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Menuiseries et peinture</c:v>
                  </c:pt>
                  <c:pt idx="1">
                    <c:v>Toiture-terrasse et étanchéité</c:v>
                  </c:pt>
                  <c:pt idx="2">
                    <c:v>Enduits et revêtements</c:v>
                  </c:pt>
                  <c:pt idx="3">
                    <c:v>Dalles R+3 et R+4</c:v>
                  </c:pt>
                  <c:pt idx="4">
                    <c:v>Réseaux (gaines électricité, plo…</c:v>
                  </c:pt>
                  <c:pt idx="5">
                    <c:v>Élévation R+2 et R+3</c:v>
                  </c:pt>
                  <c:pt idx="6">
                    <c:v>Dalles R+1 et R+2</c:v>
                  </c:pt>
                  <c:pt idx="7">
                    <c:v>Élévation RDC et R+1</c:v>
                  </c:pt>
                  <c:pt idx="8">
                    <c:v>Soubassement et dallage RDC</c:v>
                  </c:pt>
                  <c:pt idx="9">
                    <c:v>Fondations (semelles, longrines)</c:v>
                  </c:pt>
                  <c:pt idx="10">
                    <c:v>Terrassements et fouilles</c:v>
                  </c:pt>
                  <c:pt idx="11">
                    <c:v>Installation de chantier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30.9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Menuiseries et peinture</c:v>
                  </c:pt>
                  <c:pt idx="1">
                    <c:v>Toiture-terrasse et étanchéité</c:v>
                  </c:pt>
                  <c:pt idx="2">
                    <c:v>Enduits et revêtements</c:v>
                  </c:pt>
                  <c:pt idx="3">
                    <c:v>Dalles R+3 et R+4</c:v>
                  </c:pt>
                  <c:pt idx="4">
                    <c:v>Réseaux (gaines électricité, plo…</c:v>
                  </c:pt>
                  <c:pt idx="5">
                    <c:v>Élévation R+2 et R+3</c:v>
                  </c:pt>
                  <c:pt idx="6">
                    <c:v>Dalles R+1 et R+2</c:v>
                  </c:pt>
                  <c:pt idx="7">
                    <c:v>Élévation RDC et R+1</c:v>
                  </c:pt>
                  <c:pt idx="8">
                    <c:v>Soubassement et dallage RDC</c:v>
                  </c:pt>
                  <c:pt idx="9">
                    <c:v>Fondations (semelles, longrines)</c:v>
                  </c:pt>
                  <c:pt idx="10">
                    <c:v>Terrassements et fouilles</c:v>
                  </c:pt>
                  <c:pt idx="11">
                    <c:v>Installation de chantier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23.2</c:v>
                </c:pt>
                <c:pt idx="6">
                  <c:v>94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Temps vs avancement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Temps écoulé</c:v>
                  </c:pt>
                  <c:pt idx="1">
                    <c:v>Travaux réalisés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58.2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Avancement physique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Planifié</c:v>
                  </c:pt>
                  <c:pt idx="1">
                    <c:v>Réalisé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41.8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Courbe S avancement planifié vs réalisé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Planifié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Sheet1!$A$2:$A$35</c:f>
              <c:multiLvlStrCache>
                <c:ptCount val="34"/>
                <c:lvl>
                  <c:pt idx="0">
                    <c:v>mars 26</c:v>
                  </c:pt>
                  <c:pt idx="1">
                    <c:v>mars 26</c:v>
                  </c:pt>
                  <c:pt idx="2">
                    <c:v>mars 26</c:v>
                  </c:pt>
                  <c:pt idx="3">
                    <c:v>mars 26</c:v>
                  </c:pt>
                  <c:pt idx="4">
                    <c:v>avr. 26</c:v>
                  </c:pt>
                  <c:pt idx="5">
                    <c:v>avr. 26</c:v>
                  </c:pt>
                  <c:pt idx="6">
                    <c:v>mai 26</c:v>
                  </c:pt>
                  <c:pt idx="7">
                    <c:v>mai 26</c:v>
                  </c:pt>
                  <c:pt idx="8">
                    <c:v>mai 26</c:v>
                  </c:pt>
                  <c:pt idx="9">
                    <c:v>juin 26</c:v>
                  </c:pt>
                  <c:pt idx="10">
                    <c:v>juin 26</c:v>
                  </c:pt>
                  <c:pt idx="11">
                    <c:v>juin 26</c:v>
                  </c:pt>
                  <c:pt idx="12">
                    <c:v>juil. 26</c:v>
                  </c:pt>
                  <c:pt idx="13">
                    <c:v>août 26</c:v>
                  </c:pt>
                  <c:pt idx="14">
                    <c:v>août 26</c:v>
                  </c:pt>
                  <c:pt idx="15">
                    <c:v>sept. 26</c:v>
                  </c:pt>
                  <c:pt idx="16">
                    <c:v>sept. 26</c:v>
                  </c:pt>
                  <c:pt idx="17">
                    <c:v>sept. 26</c:v>
                  </c:pt>
                  <c:pt idx="18">
                    <c:v>sept. 26</c:v>
                  </c:pt>
                  <c:pt idx="19">
                    <c:v>oct. 26</c:v>
                  </c:pt>
                  <c:pt idx="20">
                    <c:v>oct. 26</c:v>
                  </c:pt>
                  <c:pt idx="21">
                    <c:v>nov. 26</c:v>
                  </c:pt>
                  <c:pt idx="22">
                    <c:v>nov. 26</c:v>
                  </c:pt>
                  <c:pt idx="23">
                    <c:v>nov. 26</c:v>
                  </c:pt>
                  <c:pt idx="24">
                    <c:v>déc. 26</c:v>
                  </c:pt>
                  <c:pt idx="25">
                    <c:v>déc. 26</c:v>
                  </c:pt>
                  <c:pt idx="26">
                    <c:v>déc. 26</c:v>
                  </c:pt>
                  <c:pt idx="27">
                    <c:v>déc. 26</c:v>
                  </c:pt>
                  <c:pt idx="28">
                    <c:v>janv. 27</c:v>
                  </c:pt>
                  <c:pt idx="29">
                    <c:v>janv. 27</c:v>
                  </c:pt>
                  <c:pt idx="30">
                    <c:v>janv. 27</c:v>
                  </c:pt>
                  <c:pt idx="31">
                    <c:v>févr. 27</c:v>
                  </c:pt>
                  <c:pt idx="32">
                    <c:v>févr. 27</c:v>
                  </c:pt>
                  <c:pt idx="33">
                    <c:v>févr. 27</c:v>
                  </c:pt>
                </c:lvl>
              </c:multiLvlStrCache>
            </c:multiLvl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0</c:v>
                </c:pt>
                <c:pt idx="1">
                  <c:v>1.2</c:v>
                </c:pt>
                <c:pt idx="2">
                  <c:v>2.8</c:v>
                </c:pt>
                <c:pt idx="3">
                  <c:v>5.3</c:v>
                </c:pt>
                <c:pt idx="4">
                  <c:v>6.9</c:v>
                </c:pt>
                <c:pt idx="5">
                  <c:v>10.5</c:v>
                </c:pt>
                <c:pt idx="6">
                  <c:v>12.6</c:v>
                </c:pt>
                <c:pt idx="7">
                  <c:v>14.2</c:v>
                </c:pt>
                <c:pt idx="8">
                  <c:v>15.6</c:v>
                </c:pt>
                <c:pt idx="9">
                  <c:v>17.8</c:v>
                </c:pt>
                <c:pt idx="10">
                  <c:v>19.4</c:v>
                </c:pt>
                <c:pt idx="11">
                  <c:v>20.8</c:v>
                </c:pt>
                <c:pt idx="12">
                  <c:v>25.1</c:v>
                </c:pt>
                <c:pt idx="13">
                  <c:v>33.1</c:v>
                </c:pt>
                <c:pt idx="14">
                  <c:v>33.5</c:v>
                </c:pt>
                <c:pt idx="15">
                  <c:v>36.7</c:v>
                </c:pt>
                <c:pt idx="16">
                  <c:v>38.9</c:v>
                </c:pt>
                <c:pt idx="17">
                  <c:v>40.4</c:v>
                </c:pt>
                <c:pt idx="18">
                  <c:v>41.8</c:v>
                </c:pt>
                <c:pt idx="19">
                  <c:v>46.1</c:v>
                </c:pt>
                <c:pt idx="20">
                  <c:v>48.3</c:v>
                </c:pt>
                <c:pt idx="21">
                  <c:v>58</c:v>
                </c:pt>
                <c:pt idx="22">
                  <c:v>60.4</c:v>
                </c:pt>
                <c:pt idx="23">
                  <c:v>61</c:v>
                </c:pt>
                <c:pt idx="24">
                  <c:v>70.7</c:v>
                </c:pt>
                <c:pt idx="25">
                  <c:v>73.9</c:v>
                </c:pt>
                <c:pt idx="26">
                  <c:v>77</c:v>
                </c:pt>
                <c:pt idx="27">
                  <c:v>82.6</c:v>
                </c:pt>
                <c:pt idx="28">
                  <c:v>83.9</c:v>
                </c:pt>
                <c:pt idx="29">
                  <c:v>86</c:v>
                </c:pt>
                <c:pt idx="30">
                  <c:v>91.6</c:v>
                </c:pt>
                <c:pt idx="31">
                  <c:v>94.4</c:v>
                </c:pt>
                <c:pt idx="32">
                  <c:v>97.8</c:v>
                </c:pt>
                <c:pt idx="3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Sheet1!$A$2:$A$35</c:f>
              <c:multiLvlStrCache>
                <c:ptCount val="34"/>
                <c:lvl>
                  <c:pt idx="0">
                    <c:v>mars 26</c:v>
                  </c:pt>
                  <c:pt idx="1">
                    <c:v>mars 26</c:v>
                  </c:pt>
                  <c:pt idx="2">
                    <c:v>mars 26</c:v>
                  </c:pt>
                  <c:pt idx="3">
                    <c:v>mars 26</c:v>
                  </c:pt>
                  <c:pt idx="4">
                    <c:v>avr. 26</c:v>
                  </c:pt>
                  <c:pt idx="5">
                    <c:v>avr. 26</c:v>
                  </c:pt>
                  <c:pt idx="6">
                    <c:v>mai 26</c:v>
                  </c:pt>
                  <c:pt idx="7">
                    <c:v>mai 26</c:v>
                  </c:pt>
                  <c:pt idx="8">
                    <c:v>mai 26</c:v>
                  </c:pt>
                  <c:pt idx="9">
                    <c:v>juin 26</c:v>
                  </c:pt>
                  <c:pt idx="10">
                    <c:v>juin 26</c:v>
                  </c:pt>
                  <c:pt idx="11">
                    <c:v>juin 26</c:v>
                  </c:pt>
                  <c:pt idx="12">
                    <c:v>juil. 26</c:v>
                  </c:pt>
                  <c:pt idx="13">
                    <c:v>août 26</c:v>
                  </c:pt>
                  <c:pt idx="14">
                    <c:v>août 26</c:v>
                  </c:pt>
                  <c:pt idx="15">
                    <c:v>sept. 26</c:v>
                  </c:pt>
                  <c:pt idx="16">
                    <c:v>sept. 26</c:v>
                  </c:pt>
                  <c:pt idx="17">
                    <c:v>sept. 26</c:v>
                  </c:pt>
                  <c:pt idx="18">
                    <c:v>sept. 26</c:v>
                  </c:pt>
                  <c:pt idx="19">
                    <c:v>oct. 26</c:v>
                  </c:pt>
                  <c:pt idx="20">
                    <c:v>oct. 26</c:v>
                  </c:pt>
                  <c:pt idx="21">
                    <c:v>nov. 26</c:v>
                  </c:pt>
                  <c:pt idx="22">
                    <c:v>nov. 26</c:v>
                  </c:pt>
                  <c:pt idx="23">
                    <c:v>nov. 26</c:v>
                  </c:pt>
                  <c:pt idx="24">
                    <c:v>déc. 26</c:v>
                  </c:pt>
                  <c:pt idx="25">
                    <c:v>déc. 26</c:v>
                  </c:pt>
                  <c:pt idx="26">
                    <c:v>déc. 26</c:v>
                  </c:pt>
                  <c:pt idx="27">
                    <c:v>déc. 26</c:v>
                  </c:pt>
                  <c:pt idx="28">
                    <c:v>janv. 27</c:v>
                  </c:pt>
                  <c:pt idx="29">
                    <c:v>janv. 27</c:v>
                  </c:pt>
                  <c:pt idx="30">
                    <c:v>janv. 27</c:v>
                  </c:pt>
                  <c:pt idx="31">
                    <c:v>févr. 27</c:v>
                  </c:pt>
                  <c:pt idx="32">
                    <c:v>févr. 27</c:v>
                  </c:pt>
                  <c:pt idx="33">
                    <c:v>févr. 27</c:v>
                  </c:pt>
                </c:lvl>
              </c:multiLvlStrCache>
            </c:multiLvlStrRef>
          </c:cat>
          <c:val>
            <c:numRef>
              <c:f>Sheet1!$C$2:$C$35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15</c:v>
                </c:pt>
                <c:pt idx="9">
                  <c:v>17</c:v>
                </c:pt>
                <c:pt idx="10">
                  <c:v>19</c:v>
                </c:pt>
                <c:pt idx="11">
                  <c:v>20</c:v>
                </c:pt>
                <c:pt idx="12">
                  <c:v>25</c:v>
                </c:pt>
                <c:pt idx="13">
                  <c:v>33</c:v>
                </c:pt>
                <c:pt idx="14">
                  <c:v>33</c:v>
                </c:pt>
                <c:pt idx="15">
                  <c:v>36</c:v>
                </c:pt>
                <c:pt idx="16">
                  <c:v>38</c:v>
                </c:pt>
                <c:pt idx="17">
                  <c:v>40</c:v>
                </c:pt>
                <c:pt idx="18">
                  <c:v>40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Avancement chantier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Avancement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Début de période</c:v>
                  </c:pt>
                  <c:pt idx="1">
                    <c:v>Fin de période</c:v>
                  </c:pt>
                  <c:pt idx="2">
                    <c:v>Financier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40</c:v>
                </c:pt>
                <c:pt idx="2">
                  <c:v>34.3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Sources compilées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Activité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Fiches</c:v>
                  </c:pt>
                  <c:pt idx="1">
                    <c:v>Carburant</c:v>
                  </c:pt>
                  <c:pt idx="2">
                    <c:v>Bons BL</c:v>
                  </c:pt>
                  <c:pt idx="3">
                    <c:v>HSE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Avancement %</c:v>
                </c:pt>
              </c:strCache>
            </c:strRef>
          </c:tx>
          <c:spPr>
            <a:solidFill>
              <a:srgbClr val="2DD4BF"/>
            </a:solidFill>
            <a:ln w="254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mar. 1 sept.</c:v>
                  </c:pt>
                  <c:pt idx="1">
                    <c:v>mer. 2 sept.</c:v>
                  </c:pt>
                  <c:pt idx="2">
                    <c:v>jeu. 3 sept.</c:v>
                  </c:pt>
                  <c:pt idx="3">
                    <c:v>ven. 4 sept.</c:v>
                  </c:pt>
                  <c:pt idx="4">
                    <c:v>sam. 5 sept.</c:v>
                  </c:pt>
                  <c:pt idx="5">
                    <c:v>lun. 7 sept.</c:v>
                  </c:pt>
                  <c:pt idx="6">
                    <c:v>mar. 8 sept.</c:v>
                  </c:pt>
                  <c:pt idx="7">
                    <c:v>mer. 9 sept.</c:v>
                  </c:pt>
                  <c:pt idx="8">
                    <c:v>jeu. 10 sept.</c:v>
                  </c:pt>
                  <c:pt idx="9">
                    <c:v>ven. 11 sept.</c:v>
                  </c:pt>
                  <c:pt idx="10">
                    <c:v>sam. 12 sept.</c:v>
                  </c:pt>
                  <c:pt idx="11">
                    <c:v>lun. 14 sept.</c:v>
                  </c:pt>
                  <c:pt idx="12">
                    <c:v>mar. 15 sept.</c:v>
                  </c:pt>
                  <c:pt idx="13">
                    <c:v>mer. 16 sept.</c:v>
                  </c:pt>
                  <c:pt idx="14">
                    <c:v>jeu. 17 sept.</c:v>
                  </c:pt>
                  <c:pt idx="15">
                    <c:v>ven. 18 sept.</c:v>
                  </c:pt>
                  <c:pt idx="16">
                    <c:v>sam. 19 sept.</c:v>
                  </c:pt>
                  <c:pt idx="17">
                    <c:v>lun. 21 sept.</c:v>
                  </c:pt>
                  <c:pt idx="18">
                    <c:v>mar. 22 sept.</c:v>
                  </c:pt>
                  <c:pt idx="19">
                    <c:v>mer. 23 sept.</c:v>
                  </c:pt>
                  <c:pt idx="20">
                    <c:v>jeu. 24 sept.</c:v>
                  </c:pt>
                  <c:pt idx="21">
                    <c:v>ven. 25 sept.</c:v>
                  </c:pt>
                  <c:pt idx="22">
                    <c:v>sam. 26 sept.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35</c:v>
                </c:pt>
                <c:pt idx="1">
                  <c:v>36</c:v>
                </c:pt>
                <c:pt idx="2">
                  <c:v>36</c:v>
                </c:pt>
                <c:pt idx="3">
                  <c:v>36</c:v>
                </c:pt>
                <c:pt idx="4">
                  <c:v>36</c:v>
                </c:pt>
                <c:pt idx="5">
                  <c:v>36</c:v>
                </c:pt>
                <c:pt idx="6">
                  <c:v>37</c:v>
                </c:pt>
                <c:pt idx="7">
                  <c:v>37</c:v>
                </c:pt>
                <c:pt idx="8">
                  <c:v>37</c:v>
                </c:pt>
                <c:pt idx="9">
                  <c:v>38</c:v>
                </c:pt>
                <c:pt idx="10">
                  <c:v>38</c:v>
                </c:pt>
                <c:pt idx="11">
                  <c:v>38</c:v>
                </c:pt>
                <c:pt idx="12">
                  <c:v>39</c:v>
                </c:pt>
                <c:pt idx="13">
                  <c:v>39</c:v>
                </c:pt>
                <c:pt idx="14">
                  <c:v>39</c:v>
                </c:pt>
                <c:pt idx="15">
                  <c:v>39</c:v>
                </c:pt>
                <c:pt idx="16">
                  <c:v>40</c:v>
                </c:pt>
                <c:pt idx="17">
                  <c:v>40</c:v>
                </c:pt>
                <c:pt idx="18">
                  <c:v>40</c:v>
                </c:pt>
                <c:pt idx="19">
                  <c:v>40</c:v>
                </c:pt>
                <c:pt idx="20">
                  <c:v>40</c:v>
                </c:pt>
                <c:pt idx="21">
                  <c:v>40</c:v>
                </c:pt>
                <c:pt idx="22">
                  <c:v>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Consommation par relevé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Litres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03/09/2026</c:v>
                  </c:pt>
                  <c:pt idx="1">
                    <c:v>11/09/2026</c:v>
                  </c:pt>
                  <c:pt idx="2">
                    <c:v>12/09/2026</c:v>
                  </c:pt>
                  <c:pt idx="3">
                    <c:v>16/09/2026</c:v>
                  </c:pt>
                  <c:pt idx="4">
                    <c:v>21/09/2026</c:v>
                  </c:pt>
                  <c:pt idx="5">
                    <c:v>24/09/2026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240</c:v>
                </c:pt>
                <c:pt idx="1">
                  <c:v>230</c:v>
                </c:pt>
                <c:pt idx="2">
                  <c:v>410</c:v>
                </c:pt>
                <c:pt idx="3">
                  <c:v>135</c:v>
                </c:pt>
                <c:pt idx="4">
                  <c:v>160</c:v>
                </c:pt>
                <c:pt idx="5">
                  <c:v>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01752"/>
            <a:ext cx="2743200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2344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18745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 de chantier périodique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2423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1480" y="30632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Septembre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Septembre 2026 · Généré le 28 septembre 2026 à 06:33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Résumé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051560"/>
            <a:ext cx="4069080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AVANCEMENT RÉEL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Prévu 41.8 % (écart -1.8 pt)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051560"/>
            <a:ext cx="406908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j de retard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89204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Temps écoulé : 58.2 %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297180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971800"/>
            <a:ext cx="4069080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CONSOMMÉ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34.3 %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4008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2 124 225 000 GNF / 6 200 000 000 GNF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297180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2971800"/>
            <a:ext cx="406908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489204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ÉTAT GLOBAL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Vigilance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489204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fiche(s) · 6 photo(s)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Champ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Organisation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Bâtir Guinée SARL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Chantier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Immeuble R+4 Kipé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/ MOA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SCI Les Palmiers de Kipé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N° contrat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MA-2026-014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Localisation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Kipé, Ratoma — Conakry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2026-03-02 → 2027-02-26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Période rapport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Septembre 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planifié vs réel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: Conforme  ·  Budget : Conforme  ·  Délais : Vigilance  ·  Global : Vigilance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Indicateur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Planifié / Réf.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Écart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Avancement physique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41.8 %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-1.8 pt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Temps vs travaux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58.2 % temps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 travaux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-18.2 pt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 cumulé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3 608 400 000 GNF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2 124 225 000 GNF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-1 484 175 000 GNF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Physique vs financier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 phys.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34.3 % fin.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+5.7 pt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Avancement par tâche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320040" y="914400"/>
          <a:ext cx="8503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Comparaisons — courbes &amp; budget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11480" y="96012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09160" y="96012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502920" y="4343400"/>
          <a:ext cx="813816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Prévisions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Mois suivant (Octobre 2026)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85039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128016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Tâche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Période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Événement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Prévu fin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Actuel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Élévation R+2 et R+3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07/09/2026 → 14/11/2026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79.4 %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23.2 %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Réseaux (gaines électricité, plomberie)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28/09/2026 → 31/12/2026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cours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35.1 %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Dalles R+3 et R+4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19/10/2026 → 19/12/2026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Démarrage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19.7 %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3716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148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Fiches journalières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3716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75488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Relevés carburant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926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2461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11480" y="39319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Bons de livraison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926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32461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4754880" y="39319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Mentions HSE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Synthèse de la période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Champ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Avancement physique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35 % → 40 % (+5 pt)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Avancement financier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34.3 %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Retard cumulé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jour(s)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6 200 000 000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Dépensé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2 124 225 000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4 075 775 000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Graphiques — avancement &amp; activité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411480" y="960120"/>
          <a:ext cx="3931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663440" y="960120"/>
          <a:ext cx="4069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Fiches journalières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640080"/>
                <a:gridCol w="1005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Avanc.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Météo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/ notes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mar. 1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coulage dalle R+2 bloc B. Nettoyage et rangement du chantier.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mer. 2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dalle R+2. HSE : briefing sécurité,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jeu. 3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dalle R+2. Visite du bureau de contrôle : RAS.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ven. 4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Averses l’après-midi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A. Nettoyage et rangement du chantier.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sam. 5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Nuageux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coulage dalle R+2 bloc B.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lun. 7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Couvert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élévation murs agglos R+3.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mar. 8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Nuageux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dalle R+2, ferraillage poutres R+3. Arrêt de 2 h pour forte pluie.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mer. 9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ferraillage poutres R+3. Arrêt de 2 h pour forte pluie.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jeu. 10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élévation murs agglos R+3.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ven. 11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Nuageux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dalle R+2, coffrage poteaux R+3. HSE : briefing sécurité,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sam. 12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ferraillage poutres R+3. Nettoyage et rangement du chantier.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lun. 14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Nuageux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ferraillage poutres R+3.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mar. 15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coulage dalle R+2 bloc B, ferraillage poutres R+3. HSE : briefing sécurité,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mer. 16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Pluie matinale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coulage dalle R+2 bloc B, ferraillage poutres R+3. HSE : briefing sécurité,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jeu. 17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dalle R+2, coffrage poteaux R+3.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ven. 18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Nuageux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coffrage poteaux R+3.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sam. 19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Averses l’après-midi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dalle R+2, ferraillage poutres R+3. Arrêt de 2 h pour forte pluie.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lun. 21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Averses l’après-midi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décoffrage dalle R+2 bloc A, ferraillage poteaux R+3. HSE : briefing sécurité du lundi,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mar. 22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coffrage poteaux R+3 (P1 à P8). Livraison de 300 sacs de ciment CPJ 42.5 réceptionnée.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mer. 23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Couvert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élévation murs agglos R+3 façade nord. Arrêt de 2 h pour forte pluie l’après-midi.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jeu. 24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Nuageux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poutres R+3, réception des aciers HA10 / HA12.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ven. 25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Ensoleillé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coulage poteaux R+3 (8 m³). Visite du bureau de contrôle : RAS.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sam. 26 sept.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Pluie matinale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maçonnerie R+3 et nettoyage de fin de semaine.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Évolution avancement journalier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502920" y="1005840"/>
          <a:ext cx="8138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8920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Effectif moyen : 22 ouvrier(s) / jour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Carburant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Champ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litres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1 340 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Coût total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16 080 000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Relevés / anomalies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02920" y="3063240"/>
          <a:ext cx="81381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Bons de livraison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0116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Référence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Fournisseur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Montant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BL-2026-0349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Agglos Matoto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22 000 000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BL-2026-0353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Cimenterie de Conakry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28 500 000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BL-2026-0355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Fer et Aciers de Kaloum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19 800 000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BL-2026-0356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Carrière de Kagbélen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15 000 000 FG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25/09/2026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bon(s) — total 85 300 000 FG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HSE &amp; pièces jointes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Champ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Mentions sécurité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dans les fiches journalières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Documents déposés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(HSE / photos)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dalle R+2. HSE : briefing sécurité,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 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ferraillage dalle R+2, coffrage poteaux R+3. HSE : briefing sécurité,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 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Travaux : coulage dalle R+2 bloc B, ferraillage poutres R+3. HSE : briefing sécurité, port des EPI vérifié.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du chantier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0"/>
            <a:ext cx="3931920" cy="29489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 securite HSE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21 sept. 2026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0150"/>
            <a:ext cx="3931920" cy="29489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Coffrage poteaux R+2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22 sept.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du chantier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0"/>
            <a:ext cx="3931920" cy="29489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Livraison ciment 300 sacs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22 sept. 2026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0150"/>
            <a:ext cx="3931920" cy="29489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Elevation murs agglos R+3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23 sept.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du chantier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0150"/>
            <a:ext cx="3931920" cy="29489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Ferraillage poutres R+3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24 sept. 2026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960120"/>
            <a:ext cx="41148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00150"/>
            <a:ext cx="3931920" cy="29489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4389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Coulage dalle R+2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25 sept.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Commentaire chef de chantier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09728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Septembre : structure du R+2 achevée, maçonnerie du R+1 à 80 %. Avancement conforme au planning de référence. Point de vigilance : délais de livraison du fer HA12 (3 jours de retard en moyenne).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280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92040" y="91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Immeuble R+4 Kipé · Septembre 2026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40487"/>
            <a:ext cx="960120" cy="2688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97280"/>
            <a:ext cx="4069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2344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 par (chef de chantier)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 Ibrahima SOW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: 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69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12344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Visa du maître d'ouvrage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: M. Thierno Ousmane DIALLO — Gérant, SCI Les Palmiers de Kipé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: 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: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621792"/>
            <a:ext cx="274320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Bâtir Guinée SARL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Propulsé par KonaData · Simple, connecté, local.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www.konadatagn.com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chantier mensuel — Immeuble R+4 Kipé</dc:title>
  <dc:subject>Rapport périodique — Immeuble R+4 Kipé</dc:subject>
  <dc:creator>Bâtir Guinée SARL</dc:creator>
  <cp:lastModifiedBy>Bâtir Guinée SARL</cp:lastModifiedBy>
  <cp:revision>1</cp:revision>
  <dcterms:created xsi:type="dcterms:W3CDTF">2026-09-28T06:33:25Z</dcterms:created>
  <dcterms:modified xsi:type="dcterms:W3CDTF">2026-09-28T06:33:25Z</dcterms:modified>
</cp:coreProperties>
</file>