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Présentez-vous en une phrase, puis KonaData : une plateforme guinéenne de gestion des données pour les écoles, les ONG, les entreprises du BTP et les PME. Annoncez le déroulé : le constat, ce que fait l'outil, des exemples concrets, puis ce que nous pouvons construire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Demandez à la salle : qui a déjà perdu une information importante parce qu'elle était dans un cahier ou dans le fichier Excel d'un collègue ? Laissez répondre. Ces quatre problèmes sont communs à tous les secteurs : l'information existe, mais elle est éparpillée et ressaisie plusieurs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seul message à retenir : une donnée saisie une seule fois sert partout, au tableau de bord, au rapport et au partenaire. Insistez sur le terrain guinéen : téléphone, 3G, saisie sans réseau, support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 public d'ingénieurs, c'est la diapositive clé. Montrez qu'on part des données de terrain (saisies sur téléphone par le chef de chantier) pour arriver au rapport envoyé au client, sans ressaisie. Citez le devis : l'extrait des matériaux (ciment, fer, agglos) est calculé à partir des dimensions, pertes incluses.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Montrez des documents réels produits par la plateforme (données de démonstration). Si vous avez un ordinateur, ouvrez les PDF du dossier docs/marketing/exemples/btp-rapports et btp-devis pour les faire défiler.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fort pour les directeurs : les bulletins d'une classe entière générés en quelques minutes, et une vue claire des paiements de scolarité. Rappelez les 12 mois gratuits pour les écoles.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Beaucoup d'ingénieurs travaillent sur des projets d'ONG (eau, assainissement, infrastructures). Insistez sur la fin de la ressaisie : ce qui est collecté sur le terrain alimente directement les indicateurs et le rapport.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simple à poser : savez-vous exactement ce que vous avez gagné le mois dernier, une fois les achats et les dépenses retirés ? KonaData répond à cette question en temps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documents sont générés par la plateforme à partir de données de démonstration. Ils montrent le niveau de qualité que vos membres peuvent remettre à leurs clients, parents d'élèves ou bailleurs.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Répondez ici aux objections habituelles avant qu'elles ne soient posées : le réseau, la langue, le prix, et à qui s'adresser en cas de problème.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Adaptez cette diapositive à l'organisation en face de vous. L'objectif est de repartir avec une date d'atelier ou une liste de membres volontaires pour le programme pilote. Toute communication commune (logo, citation) se fait uniquement avec leur accord écrit.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une université ou une école professionnelle : les étudiants découvrent des outils utilisés en entreprise et deviennent, une fois embauchés, les meilleurs prescripteurs. Proposez une première séance de travaux pratiques à une date précise.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pilote lève la principale barrière : la peur de se lancer seul. Nous faisons l'installation et la formation ; l'organisation n'a qu'à utiliser l'outil sur un cas réel. Distribuez la fiche programme-pilote.pdf.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Soyez transparent sur les prix : c'est rassurant. La période gratuite s'active une seule fois, dans les 2 mois qui suivent l'inscription. Aucun paiement n'est demandé pour démarrer.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Terminez par une proposition concrète : une date d'atelier, une séance de travaux pratiques ou une liste de membres volontaires pour le pilote. Laissez le QR code affiché pendant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3" name="Shape 0"/>
          <p:cNvSpPr/>
          <p:nvPr/>
        </p:nvSpPr>
        <p:spPr>
          <a:xfrm>
            <a:off x="8412480" y="-2011680"/>
            <a:ext cx="5486400" cy="5486400"/>
          </a:xfrm>
          <a:prstGeom prst="ellipse">
            <a:avLst/>
          </a:prstGeom>
          <a:solidFill>
            <a:srgbClr val="22D3EE">
              <a:alpha val="18000"/>
            </a:srgbClr>
          </a:solidFill>
          <a:ln w="12700">
            <a:solidFill>
              <a:srgbClr val="22D3EE">
                <a:alpha val="0"/>
              </a:srgbClr>
            </a:solidFill>
            <a:prstDash val="solid"/>
          </a:ln>
        </p:spPr>
      </p:sp>
      <p:pic>
        <p:nvPicPr>
          <p:cNvPr id="4" name="Image 0" descr="C:\Users\Administrator\Projects\guinea-pwa\docs\marketing\campagne\.work\icon.png">    </p:cNvPr>
          <p:cNvPicPr>
            <a:picLocks noChangeAspect="1"/>
          </p:cNvPicPr>
          <p:nvPr/>
        </p:nvPicPr>
        <p:blipFill>
          <a:blip r:embed="rId1"/>
          <a:stretch>
            <a:fillRect/>
          </a:stretch>
        </p:blipFill>
        <p:spPr>
          <a:xfrm>
            <a:off x="548640" y="548640"/>
            <a:ext cx="731520" cy="731520"/>
          </a:xfrm>
          <a:prstGeom prst="rect">
            <a:avLst/>
          </a:prstGeom>
        </p:spPr>
      </p:pic>
      <p:sp>
        <p:nvSpPr>
          <p:cNvPr id="5" name="Text 1"/>
          <p:cNvSpPr/>
          <p:nvPr/>
        </p:nvSpPr>
        <p:spPr>
          <a:xfrm>
            <a:off x="1371600" y="566928"/>
            <a:ext cx="3657600" cy="68580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Kona</a:t>
            </a:r>
            <a:pPr indent="0" marL="0">
              <a:buNone/>
            </a:pPr>
            <a:r>
              <a:rPr lang="en-US" sz="3000" b="1" dirty="0">
                <a:solidFill>
                  <a:srgbClr val="38BDF8"/>
                </a:solidFill>
                <a:latin typeface="Segoe UI" pitchFamily="34" charset="0"/>
                <a:ea typeface="Segoe UI" pitchFamily="34" charset="-122"/>
                <a:cs typeface="Segoe UI" pitchFamily="34" charset="-120"/>
              </a:rPr>
              <a:t>Data</a:t>
            </a:r>
            <a:endParaRPr lang="en-US" sz="3000" dirty="0"/>
          </a:p>
        </p:txBody>
      </p:sp>
      <p:sp>
        <p:nvSpPr>
          <p:cNvPr id="6" name="Text 2"/>
          <p:cNvSpPr/>
          <p:nvPr/>
        </p:nvSpPr>
        <p:spPr>
          <a:xfrm>
            <a:off x="548640" y="2103120"/>
            <a:ext cx="8686800" cy="1737360"/>
          </a:xfrm>
          <a:prstGeom prst="rect">
            <a:avLst/>
          </a:prstGeom>
          <a:noFill/>
          <a:ln/>
        </p:spPr>
        <p:txBody>
          <a:bodyPr wrap="square" rtlCol="0" anchor="t"/>
          <a:lstStyle/>
          <a:p>
            <a:pPr indent="0" marL="0">
              <a:buNone/>
            </a:pPr>
            <a:r>
              <a:rPr lang="en-US" sz="4400" b="1" dirty="0">
                <a:solidFill>
                  <a:srgbClr val="FFFFFF"/>
                </a:solidFill>
                <a:latin typeface="Segoe UI" pitchFamily="34" charset="0"/>
                <a:ea typeface="Segoe UI" pitchFamily="34" charset="-122"/>
                <a:cs typeface="Segoe UI" pitchFamily="34" charset="-120"/>
              </a:rPr>
              <a:t>Digitaliser la gestion des organisations guinéennes</a:t>
            </a:r>
            <a:endParaRPr lang="en-US" sz="4400" dirty="0"/>
          </a:p>
        </p:txBody>
      </p:sp>
      <p:sp>
        <p:nvSpPr>
          <p:cNvPr id="7" name="Text 3"/>
          <p:cNvSpPr/>
          <p:nvPr/>
        </p:nvSpPr>
        <p:spPr>
          <a:xfrm>
            <a:off x="548640" y="3977640"/>
            <a:ext cx="8229600" cy="457200"/>
          </a:xfrm>
          <a:prstGeom prst="rect">
            <a:avLst/>
          </a:prstGeom>
          <a:noFill/>
          <a:ln/>
        </p:spPr>
        <p:txBody>
          <a:bodyPr wrap="square" rtlCol="0" anchor="ctr"/>
          <a:lstStyle/>
          <a:p>
            <a:pPr indent="0" marL="0">
              <a:buNone/>
            </a:pPr>
            <a:r>
              <a:rPr lang="en-US" sz="2000" b="1" dirty="0">
                <a:solidFill>
                  <a:srgbClr val="22D3EE"/>
                </a:solidFill>
                <a:latin typeface="Segoe UI" pitchFamily="34" charset="0"/>
                <a:ea typeface="Segoe UI" pitchFamily="34" charset="-122"/>
                <a:cs typeface="Segoe UI" pitchFamily="34" charset="-120"/>
              </a:rPr>
              <a:t>Écoles  ·  ONG  ·  BTP  ·  PME</a:t>
            </a:r>
            <a:endParaRPr lang="en-US" sz="2000" dirty="0"/>
          </a:p>
        </p:txBody>
      </p:sp>
      <p:sp>
        <p:nvSpPr>
          <p:cNvPr id="8" name="Text 4"/>
          <p:cNvSpPr/>
          <p:nvPr/>
        </p:nvSpPr>
        <p:spPr>
          <a:xfrm>
            <a:off x="548640" y="4480560"/>
            <a:ext cx="8229600" cy="457200"/>
          </a:xfrm>
          <a:prstGeom prst="rect">
            <a:avLst/>
          </a:prstGeom>
          <a:noFill/>
          <a:ln/>
        </p:spPr>
        <p:txBody>
          <a:bodyPr wrap="square" rtlCol="0" anchor="ctr"/>
          <a:lstStyle/>
          <a:p>
            <a:pPr indent="0" marL="0">
              <a:buNone/>
            </a:pPr>
            <a:r>
              <a:rPr lang="en-US" sz="1800" dirty="0">
                <a:solidFill>
                  <a:srgbClr val="CBD5E1"/>
                </a:solidFill>
                <a:latin typeface="Segoe UI" pitchFamily="34" charset="0"/>
                <a:ea typeface="Segoe UI" pitchFamily="34" charset="-122"/>
                <a:cs typeface="Segoe UI" pitchFamily="34" charset="-120"/>
              </a:rPr>
              <a:t>Présentation et proposition de partenariat</a:t>
            </a:r>
            <a:endParaRPr lang="en-US" sz="1800" dirty="0"/>
          </a:p>
        </p:txBody>
      </p:sp>
      <p:pic>
        <p:nvPicPr>
          <p:cNvPr id="9" name="Image 1" descr="C:\Users\Administrator\Projects\guinea-pwa\docs\marketing\campagne\.work\prospection\mobile.jpg">    </p:cNvPr>
          <p:cNvPicPr>
            <a:picLocks noChangeAspect="1"/>
          </p:cNvPicPr>
          <p:nvPr/>
        </p:nvPicPr>
        <p:blipFill>
          <a:blip r:embed="rId2"/>
          <a:stretch>
            <a:fillRect/>
          </a:stretch>
        </p:blipFill>
        <p:spPr>
          <a:xfrm>
            <a:off x="9418320" y="1188720"/>
            <a:ext cx="2011680" cy="4352544"/>
          </a:xfrm>
          <a:prstGeom prst="rect">
            <a:avLst/>
          </a:prstGeom>
        </p:spPr>
      </p:pic>
      <p:sp>
        <p:nvSpPr>
          <p:cNvPr id="10" name="Text 5"/>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11" name="Shape 6"/>
          <p:cNvSpPr/>
          <p:nvPr/>
        </p:nvSpPr>
        <p:spPr>
          <a:xfrm>
            <a:off x="0" y="6784848"/>
            <a:ext cx="12191695" cy="73152"/>
          </a:xfrm>
          <a:prstGeom prst="rect">
            <a:avLst/>
          </a:prstGeom>
          <a:solidFill>
            <a:srgbClr val="22D3E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92F"/>
        </a:solidFill>
      </p:bgPr>
    </p:bg>
    <p:spTree>
      <p:nvGrpSpPr>
        <p:cNvPr id="1" name=""/>
        <p:cNvGrpSpPr/>
        <p:nvPr/>
      </p:nvGrpSpPr>
      <p:grpSpPr>
        <a:xfrm>
          <a:off x="0" y="0"/>
          <a:ext cx="0" cy="0"/>
          <a:chOff x="0" y="0"/>
          <a:chExt cx="0" cy="0"/>
        </a:xfrm>
      </p:grpSpPr>
      <p:sp>
        <p:nvSpPr>
          <p:cNvPr id="3" name="Text 0"/>
          <p:cNvSpPr/>
          <p:nvPr/>
        </p:nvSpPr>
        <p:spPr>
          <a:xfrm>
            <a:off x="548640" y="384048"/>
            <a:ext cx="8229600" cy="320040"/>
          </a:xfrm>
          <a:prstGeom prst="rect">
            <a:avLst/>
          </a:prstGeom>
          <a:noFill/>
          <a:ln/>
        </p:spPr>
        <p:txBody>
          <a:bodyPr wrap="square" rtlCol="0" anchor="ctr"/>
          <a:lstStyle/>
          <a:p>
            <a:pPr indent="0" marL="0">
              <a:buNone/>
            </a:pPr>
            <a:r>
              <a:rPr lang="en-US" sz="1200" b="1" spc="300" kern="0" dirty="0">
                <a:solidFill>
                  <a:srgbClr val="22D3EE"/>
                </a:solidFill>
                <a:latin typeface="Segoe UI" pitchFamily="34" charset="0"/>
                <a:ea typeface="Segoe UI" pitchFamily="34" charset="-122"/>
                <a:cs typeface="Segoe UI" pitchFamily="34" charset="-120"/>
              </a:rPr>
              <a:t>LE CONSTAT</a:t>
            </a:r>
            <a:endParaRPr lang="en-US" sz="1200" dirty="0"/>
          </a:p>
        </p:txBody>
      </p:sp>
      <p:sp>
        <p:nvSpPr>
          <p:cNvPr id="4" name="Text 1"/>
          <p:cNvSpPr/>
          <p:nvPr/>
        </p:nvSpPr>
        <p:spPr>
          <a:xfrm>
            <a:off x="548640" y="68580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Des données précieuses, mais éparpillées</a:t>
            </a:r>
            <a:endParaRPr lang="en-US" sz="3000" dirty="0"/>
          </a:p>
        </p:txBody>
      </p:sp>
      <p:sp>
        <p:nvSpPr>
          <p:cNvPr id="5" name="Shape 2"/>
          <p:cNvSpPr/>
          <p:nvPr/>
        </p:nvSpPr>
        <p:spPr>
          <a:xfrm>
            <a:off x="548640" y="173736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6" name="Shape 3"/>
          <p:cNvSpPr/>
          <p:nvPr/>
        </p:nvSpPr>
        <p:spPr>
          <a:xfrm>
            <a:off x="548640" y="1901952"/>
            <a:ext cx="64008" cy="1682496"/>
          </a:xfrm>
          <a:prstGeom prst="rect">
            <a:avLst/>
          </a:prstGeom>
          <a:solidFill>
            <a:srgbClr val="22D3EE"/>
          </a:solidFill>
          <a:ln w="12700">
            <a:solidFill>
              <a:srgbClr val="22D3EE"/>
            </a:solidFill>
            <a:prstDash val="solid"/>
          </a:ln>
        </p:spPr>
      </p:sp>
      <p:sp>
        <p:nvSpPr>
          <p:cNvPr id="7" name="Text 4"/>
          <p:cNvSpPr/>
          <p:nvPr/>
        </p:nvSpPr>
        <p:spPr>
          <a:xfrm>
            <a:off x="822960" y="192024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Cahiers et registres</a:t>
            </a:r>
            <a:endParaRPr lang="en-US" sz="2000" dirty="0"/>
          </a:p>
        </p:txBody>
      </p:sp>
      <p:sp>
        <p:nvSpPr>
          <p:cNvPr id="8" name="Text 5"/>
          <p:cNvSpPr/>
          <p:nvPr/>
        </p:nvSpPr>
        <p:spPr>
          <a:xfrm>
            <a:off x="822960" y="246888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Perdus, abîmés, illisibles : l'historique disparaît avec eux.</a:t>
            </a:r>
            <a:endParaRPr lang="en-US" sz="1600" dirty="0"/>
          </a:p>
        </p:txBody>
      </p:sp>
      <p:sp>
        <p:nvSpPr>
          <p:cNvPr id="9" name="Shape 6"/>
          <p:cNvSpPr/>
          <p:nvPr/>
        </p:nvSpPr>
        <p:spPr>
          <a:xfrm>
            <a:off x="6172200" y="173736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10" name="Shape 7"/>
          <p:cNvSpPr/>
          <p:nvPr/>
        </p:nvSpPr>
        <p:spPr>
          <a:xfrm>
            <a:off x="6172200" y="1901952"/>
            <a:ext cx="64008" cy="1682496"/>
          </a:xfrm>
          <a:prstGeom prst="rect">
            <a:avLst/>
          </a:prstGeom>
          <a:solidFill>
            <a:srgbClr val="22D3EE"/>
          </a:solidFill>
          <a:ln w="12700">
            <a:solidFill>
              <a:srgbClr val="22D3EE"/>
            </a:solidFill>
            <a:prstDash val="solid"/>
          </a:ln>
        </p:spPr>
      </p:sp>
      <p:sp>
        <p:nvSpPr>
          <p:cNvPr id="11" name="Text 8"/>
          <p:cNvSpPr/>
          <p:nvPr/>
        </p:nvSpPr>
        <p:spPr>
          <a:xfrm>
            <a:off x="6446520" y="192024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Fichiers Excel éparpillés</a:t>
            </a:r>
            <a:endParaRPr lang="en-US" sz="2000" dirty="0"/>
          </a:p>
        </p:txBody>
      </p:sp>
      <p:sp>
        <p:nvSpPr>
          <p:cNvPr id="12" name="Text 9"/>
          <p:cNvSpPr/>
          <p:nvPr/>
        </p:nvSpPr>
        <p:spPr>
          <a:xfrm>
            <a:off x="6446520" y="246888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Chacun a sa version. Consolider prend des heures, avec des erreurs.</a:t>
            </a:r>
            <a:endParaRPr lang="en-US" sz="1600" dirty="0"/>
          </a:p>
        </p:txBody>
      </p:sp>
      <p:sp>
        <p:nvSpPr>
          <p:cNvPr id="13" name="Shape 10"/>
          <p:cNvSpPr/>
          <p:nvPr/>
        </p:nvSpPr>
        <p:spPr>
          <a:xfrm>
            <a:off x="548640" y="397764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14" name="Shape 11"/>
          <p:cNvSpPr/>
          <p:nvPr/>
        </p:nvSpPr>
        <p:spPr>
          <a:xfrm>
            <a:off x="548640" y="4142232"/>
            <a:ext cx="64008" cy="1682496"/>
          </a:xfrm>
          <a:prstGeom prst="rect">
            <a:avLst/>
          </a:prstGeom>
          <a:solidFill>
            <a:srgbClr val="22D3EE"/>
          </a:solidFill>
          <a:ln w="12700">
            <a:solidFill>
              <a:srgbClr val="22D3EE"/>
            </a:solidFill>
            <a:prstDash val="solid"/>
          </a:ln>
        </p:spPr>
      </p:sp>
      <p:sp>
        <p:nvSpPr>
          <p:cNvPr id="15" name="Text 12"/>
          <p:cNvSpPr/>
          <p:nvPr/>
        </p:nvSpPr>
        <p:spPr>
          <a:xfrm>
            <a:off x="822960" y="416052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Rapports en retard</a:t>
            </a:r>
            <a:endParaRPr lang="en-US" sz="2000" dirty="0"/>
          </a:p>
        </p:txBody>
      </p:sp>
      <p:sp>
        <p:nvSpPr>
          <p:cNvPr id="16" name="Text 13"/>
          <p:cNvSpPr/>
          <p:nvPr/>
        </p:nvSpPr>
        <p:spPr>
          <a:xfrm>
            <a:off x="822960" y="470916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Les mêmes chiffres ressaisis pour le client, le bailleur ou la direction.</a:t>
            </a:r>
            <a:endParaRPr lang="en-US" sz="1600" dirty="0"/>
          </a:p>
        </p:txBody>
      </p:sp>
      <p:sp>
        <p:nvSpPr>
          <p:cNvPr id="17" name="Shape 14"/>
          <p:cNvSpPr/>
          <p:nvPr/>
        </p:nvSpPr>
        <p:spPr>
          <a:xfrm>
            <a:off x="6172200" y="397764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18" name="Shape 15"/>
          <p:cNvSpPr/>
          <p:nvPr/>
        </p:nvSpPr>
        <p:spPr>
          <a:xfrm>
            <a:off x="6172200" y="4142232"/>
            <a:ext cx="64008" cy="1682496"/>
          </a:xfrm>
          <a:prstGeom prst="rect">
            <a:avLst/>
          </a:prstGeom>
          <a:solidFill>
            <a:srgbClr val="22D3EE"/>
          </a:solidFill>
          <a:ln w="12700">
            <a:solidFill>
              <a:srgbClr val="22D3EE"/>
            </a:solidFill>
            <a:prstDash val="solid"/>
          </a:ln>
        </p:spPr>
      </p:sp>
      <p:sp>
        <p:nvSpPr>
          <p:cNvPr id="19" name="Text 16"/>
          <p:cNvSpPr/>
          <p:nvPr/>
        </p:nvSpPr>
        <p:spPr>
          <a:xfrm>
            <a:off x="6446520" y="416052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Décisions à l’aveugle</a:t>
            </a:r>
            <a:endParaRPr lang="en-US" sz="2000" dirty="0"/>
          </a:p>
        </p:txBody>
      </p:sp>
      <p:sp>
        <p:nvSpPr>
          <p:cNvPr id="20" name="Text 17"/>
          <p:cNvSpPr/>
          <p:nvPr/>
        </p:nvSpPr>
        <p:spPr>
          <a:xfrm>
            <a:off x="6446520" y="470916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Stock, carburant, paiements : on découvre les problèmes trop tard.</a:t>
            </a:r>
            <a:endParaRPr lang="en-US" sz="1600" dirty="0"/>
          </a:p>
        </p:txBody>
      </p:sp>
      <p:sp>
        <p:nvSpPr>
          <p:cNvPr id="21" name="Text 18"/>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22" name="Shape 19"/>
          <p:cNvSpPr/>
          <p:nvPr/>
        </p:nvSpPr>
        <p:spPr>
          <a:xfrm>
            <a:off x="0" y="6784848"/>
            <a:ext cx="12191695" cy="73152"/>
          </a:xfrm>
          <a:prstGeom prst="rect">
            <a:avLst/>
          </a:prstGeom>
          <a:solidFill>
            <a:srgbClr val="22D3EE"/>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92F"/>
        </a:solidFill>
      </p:bgPr>
    </p:bg>
    <p:spTree>
      <p:nvGrpSpPr>
        <p:cNvPr id="1" name=""/>
        <p:cNvGrpSpPr/>
        <p:nvPr/>
      </p:nvGrpSpPr>
      <p:grpSpPr>
        <a:xfrm>
          <a:off x="0" y="0"/>
          <a:ext cx="0" cy="0"/>
          <a:chOff x="0" y="0"/>
          <a:chExt cx="0" cy="0"/>
        </a:xfrm>
      </p:grpSpPr>
      <p:sp>
        <p:nvSpPr>
          <p:cNvPr id="3" name="Text 0"/>
          <p:cNvSpPr/>
          <p:nvPr/>
        </p:nvSpPr>
        <p:spPr>
          <a:xfrm>
            <a:off x="548640" y="384048"/>
            <a:ext cx="8229600" cy="320040"/>
          </a:xfrm>
          <a:prstGeom prst="rect">
            <a:avLst/>
          </a:prstGeom>
          <a:noFill/>
          <a:ln/>
        </p:spPr>
        <p:txBody>
          <a:bodyPr wrap="square" rtlCol="0" anchor="ctr"/>
          <a:lstStyle/>
          <a:p>
            <a:pPr indent="0" marL="0">
              <a:buNone/>
            </a:pPr>
            <a:r>
              <a:rPr lang="en-US" sz="1200" b="1" spc="300" kern="0" dirty="0">
                <a:solidFill>
                  <a:srgbClr val="22D3EE"/>
                </a:solidFill>
                <a:latin typeface="Segoe UI" pitchFamily="34" charset="0"/>
                <a:ea typeface="Segoe UI" pitchFamily="34" charset="-122"/>
                <a:cs typeface="Segoe UI" pitchFamily="34" charset="-120"/>
              </a:rPr>
              <a:t>LA SOLUTION</a:t>
            </a:r>
            <a:endParaRPr lang="en-US" sz="1200" dirty="0"/>
          </a:p>
        </p:txBody>
      </p:sp>
      <p:sp>
        <p:nvSpPr>
          <p:cNvPr id="4" name="Text 1"/>
          <p:cNvSpPr/>
          <p:nvPr/>
        </p:nvSpPr>
        <p:spPr>
          <a:xfrm>
            <a:off x="548640" y="68580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KonaData en bref</a:t>
            </a:r>
            <a:endParaRPr lang="en-US" sz="3000" dirty="0"/>
          </a:p>
        </p:txBody>
      </p:sp>
      <p:sp>
        <p:nvSpPr>
          <p:cNvPr id="5" name="Text 2"/>
          <p:cNvSpPr/>
          <p:nvPr/>
        </p:nvSpPr>
        <p:spPr>
          <a:xfrm>
            <a:off x="548640" y="1691640"/>
            <a:ext cx="4937760" cy="4389120"/>
          </a:xfrm>
          <a:prstGeom prst="rect">
            <a:avLst/>
          </a:prstGeom>
          <a:noFill/>
          <a:ln/>
        </p:spPr>
        <p:txBody>
          <a:bodyPr wrap="square" rtlCol="0" anchor="t"/>
          <a:lstStyle/>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Une plateforme, quatre secteurs : écoles, ONG, BTP, PME</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Sur ordinateur et sur téléphone, comme une application</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Fonctionne en 3G, saisie possible sans réseau</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Rapports PDF et PowerPoint générés automatiquement</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KonaAI : alertes et synthèses rédigées en un clic</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Support local, en français, sur WhatsApp</a:t>
            </a:r>
            <a:endParaRPr lang="en-US" sz="1700" dirty="0"/>
          </a:p>
        </p:txBody>
      </p:sp>
      <p:pic>
        <p:nvPicPr>
          <p:cNvPr id="6" name="Image 0" descr="C:\Users\Administrator\Projects\guinea-pwa\docs\marketing\campagne\.work\prospection\mobile.jpg">    </p:cNvPr>
          <p:cNvPicPr>
            <a:picLocks noChangeAspect="1"/>
          </p:cNvPicPr>
          <p:nvPr/>
        </p:nvPicPr>
        <p:blipFill>
          <a:blip r:embed="rId1"/>
          <a:stretch>
            <a:fillRect/>
          </a:stretch>
        </p:blipFill>
        <p:spPr>
          <a:xfrm>
            <a:off x="5943600" y="1920240"/>
            <a:ext cx="1737360" cy="3758184"/>
          </a:xfrm>
          <a:prstGeom prst="rect">
            <a:avLst/>
          </a:prstGeom>
        </p:spPr>
      </p:pic>
      <p:pic>
        <p:nvPicPr>
          <p:cNvPr id="7" name="Image 1" descr="C:\Users\Administrator\Projects\guinea-pwa\docs\marketing\campagne\.work\prospection\mobile-ecole.jpg">    </p:cNvPr>
          <p:cNvPicPr>
            <a:picLocks noChangeAspect="1"/>
          </p:cNvPicPr>
          <p:nvPr/>
        </p:nvPicPr>
        <p:blipFill>
          <a:blip r:embed="rId2"/>
          <a:stretch>
            <a:fillRect/>
          </a:stretch>
        </p:blipFill>
        <p:spPr>
          <a:xfrm>
            <a:off x="7863840" y="1600200"/>
            <a:ext cx="1737360" cy="3758184"/>
          </a:xfrm>
          <a:prstGeom prst="rect">
            <a:avLst/>
          </a:prstGeom>
        </p:spPr>
      </p:pic>
      <p:pic>
        <p:nvPicPr>
          <p:cNvPr id="8" name="Image 2" descr="C:\Users\Administrator\Projects\guinea-pwa\docs\marketing\campagne\.work\prospection\mobile-ong.jpg">    </p:cNvPr>
          <p:cNvPicPr>
            <a:picLocks noChangeAspect="1"/>
          </p:cNvPicPr>
          <p:nvPr/>
        </p:nvPicPr>
        <p:blipFill>
          <a:blip r:embed="rId3"/>
          <a:stretch>
            <a:fillRect/>
          </a:stretch>
        </p:blipFill>
        <p:spPr>
          <a:xfrm>
            <a:off x="9784080" y="1920240"/>
            <a:ext cx="1737360" cy="3758184"/>
          </a:xfrm>
          <a:prstGeom prst="rect">
            <a:avLst/>
          </a:prstGeom>
        </p:spPr>
      </p:pic>
      <p:sp>
        <p:nvSpPr>
          <p:cNvPr id="9" name="Text 3"/>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10" name="Shape 4"/>
          <p:cNvSpPr/>
          <p:nvPr/>
        </p:nvSpPr>
        <p:spPr>
          <a:xfrm>
            <a:off x="0" y="6784848"/>
            <a:ext cx="12191695" cy="73152"/>
          </a:xfrm>
          <a:prstGeom prst="rect">
            <a:avLst/>
          </a:prstGeom>
          <a:solidFill>
            <a:srgbClr val="22D3EE"/>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92F"/>
        </a:solidFill>
      </p:bgPr>
    </p:bg>
    <p:spTree>
      <p:nvGrpSpPr>
        <p:cNvPr id="1" name=""/>
        <p:cNvGrpSpPr/>
        <p:nvPr/>
      </p:nvGrpSpPr>
      <p:grpSpPr>
        <a:xfrm>
          <a:off x="0" y="0"/>
          <a:ext cx="0" cy="0"/>
          <a:chOff x="0" y="0"/>
          <a:chExt cx="0" cy="0"/>
        </a:xfrm>
      </p:grpSpPr>
      <p:sp>
        <p:nvSpPr>
          <p:cNvPr id="3" name="Text 0"/>
          <p:cNvSpPr/>
          <p:nvPr/>
        </p:nvSpPr>
        <p:spPr>
          <a:xfrm>
            <a:off x="548640" y="384048"/>
            <a:ext cx="8229600" cy="320040"/>
          </a:xfrm>
          <a:prstGeom prst="rect">
            <a:avLst/>
          </a:prstGeom>
          <a:noFill/>
          <a:ln/>
        </p:spPr>
        <p:txBody>
          <a:bodyPr wrap="square" rtlCol="0" anchor="ctr"/>
          <a:lstStyle/>
          <a:p>
            <a:pPr indent="0" marL="0">
              <a:buNone/>
            </a:pPr>
            <a:r>
              <a:rPr lang="en-US" sz="1200" b="1" spc="300" kern="0" dirty="0">
                <a:solidFill>
                  <a:srgbClr val="22D3EE"/>
                </a:solidFill>
                <a:latin typeface="Segoe UI" pitchFamily="34" charset="0"/>
                <a:ea typeface="Segoe UI" pitchFamily="34" charset="-122"/>
                <a:cs typeface="Segoe UI" pitchFamily="34" charset="-120"/>
              </a:rPr>
              <a:t>BTP &amp; CHANTIERS</a:t>
            </a:r>
            <a:endParaRPr lang="en-US" sz="1200" dirty="0"/>
          </a:p>
        </p:txBody>
      </p:sp>
      <p:sp>
        <p:nvSpPr>
          <p:cNvPr id="4" name="Text 1"/>
          <p:cNvSpPr/>
          <p:nvPr/>
        </p:nvSpPr>
        <p:spPr>
          <a:xfrm>
            <a:off x="548640" y="68580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Tous vos chantiers sous contrôle</a:t>
            </a:r>
            <a:endParaRPr lang="en-US" sz="3000" dirty="0"/>
          </a:p>
        </p:txBody>
      </p:sp>
      <p:sp>
        <p:nvSpPr>
          <p:cNvPr id="5" name="Text 2"/>
          <p:cNvSpPr/>
          <p:nvPr/>
        </p:nvSpPr>
        <p:spPr>
          <a:xfrm>
            <a:off x="548640" y="1691640"/>
            <a:ext cx="4754880" cy="4206240"/>
          </a:xfrm>
          <a:prstGeom prst="rect">
            <a:avLst/>
          </a:prstGeom>
          <a:noFill/>
          <a:ln/>
        </p:spPr>
        <p:txBody>
          <a:bodyPr wrap="square" rtlCol="0" anchor="t"/>
          <a:lstStyle/>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Suivi quotidien par chantier : avancement, personnel, carburant, livraisons</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Devis avec extrait des matériaux calculé à partir des dimensions</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Rapports hebdomadaires à annuels en PDF et PowerPoint</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Version sans montants pour le client</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Alertes sur les consommations de carburant anormales</a:t>
            </a:r>
            <a:endParaRPr lang="en-US" sz="1700" dirty="0"/>
          </a:p>
        </p:txBody>
      </p:sp>
      <p:sp>
        <p:nvSpPr>
          <p:cNvPr id="6" name="Shape 3"/>
          <p:cNvSpPr/>
          <p:nvPr/>
        </p:nvSpPr>
        <p:spPr>
          <a:xfrm>
            <a:off x="5623560" y="1645920"/>
            <a:ext cx="6035040" cy="3931920"/>
          </a:xfrm>
          <a:prstGeom prst="roundRect">
            <a:avLst>
              <a:gd name="adj" fmla="val 1860"/>
            </a:avLst>
          </a:prstGeom>
          <a:solidFill>
            <a:srgbClr val="EA580C"/>
          </a:solidFill>
          <a:ln w="12700">
            <a:solidFill>
              <a:srgbClr val="EA580C"/>
            </a:solidFill>
            <a:prstDash val="solid"/>
          </a:ln>
        </p:spPr>
      </p:sp>
      <p:pic>
        <p:nvPicPr>
          <p:cNvPr id="7" name="Image 0" descr="C:\Users\Administrator\Projects\guinea-pwa\docs\marketing\campagne\.work\prospection\btp.jpg">    </p:cNvPr>
          <p:cNvPicPr>
            <a:picLocks noChangeAspect="1"/>
          </p:cNvPicPr>
          <p:nvPr/>
        </p:nvPicPr>
        <p:blipFill>
          <a:blip r:embed="rId1"/>
          <a:stretch>
            <a:fillRect/>
          </a:stretch>
        </p:blipFill>
        <p:spPr>
          <a:xfrm>
            <a:off x="5715000" y="1737360"/>
            <a:ext cx="5852160" cy="3657600"/>
          </a:xfrm>
          <a:prstGeom prst="rect">
            <a:avLst/>
          </a:prstGeom>
        </p:spPr>
      </p:pic>
      <p:sp>
        <p:nvSpPr>
          <p:cNvPr id="8" name="Text 4"/>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9" name="Shape 5"/>
          <p:cNvSpPr/>
          <p:nvPr/>
        </p:nvSpPr>
        <p:spPr>
          <a:xfrm>
            <a:off x="0" y="6784848"/>
            <a:ext cx="12191695" cy="73152"/>
          </a:xfrm>
          <a:prstGeom prst="rect">
            <a:avLst/>
          </a:prstGeom>
          <a:solidFill>
            <a:srgbClr val="22D3EE"/>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92F"/>
        </a:solidFill>
      </p:bgPr>
    </p:bg>
    <p:spTree>
      <p:nvGrpSpPr>
        <p:cNvPr id="1" name=""/>
        <p:cNvGrpSpPr/>
        <p:nvPr/>
      </p:nvGrpSpPr>
      <p:grpSpPr>
        <a:xfrm>
          <a:off x="0" y="0"/>
          <a:ext cx="0" cy="0"/>
          <a:chOff x="0" y="0"/>
          <a:chExt cx="0" cy="0"/>
        </a:xfrm>
      </p:grpSpPr>
      <p:sp>
        <p:nvSpPr>
          <p:cNvPr id="3" name="Text 0"/>
          <p:cNvSpPr/>
          <p:nvPr/>
        </p:nvSpPr>
        <p:spPr>
          <a:xfrm>
            <a:off x="548640" y="384048"/>
            <a:ext cx="8229600" cy="320040"/>
          </a:xfrm>
          <a:prstGeom prst="rect">
            <a:avLst/>
          </a:prstGeom>
          <a:noFill/>
          <a:ln/>
        </p:spPr>
        <p:txBody>
          <a:bodyPr wrap="square" rtlCol="0" anchor="ctr"/>
          <a:lstStyle/>
          <a:p>
            <a:pPr indent="0" marL="0">
              <a:buNone/>
            </a:pPr>
            <a:r>
              <a:rPr lang="en-US" sz="1200" b="1" spc="300" kern="0" dirty="0">
                <a:solidFill>
                  <a:srgbClr val="22D3EE"/>
                </a:solidFill>
                <a:latin typeface="Segoe UI" pitchFamily="34" charset="0"/>
                <a:ea typeface="Segoe UI" pitchFamily="34" charset="-122"/>
                <a:cs typeface="Segoe UI" pitchFamily="34" charset="-120"/>
              </a:rPr>
              <a:t>BTP : EXEMPLES DE DOCUMENTS</a:t>
            </a:r>
            <a:endParaRPr lang="en-US" sz="1200" dirty="0"/>
          </a:p>
        </p:txBody>
      </p:sp>
      <p:sp>
        <p:nvSpPr>
          <p:cNvPr id="4" name="Text 1"/>
          <p:cNvSpPr/>
          <p:nvPr/>
        </p:nvSpPr>
        <p:spPr>
          <a:xfrm>
            <a:off x="548640" y="68580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Devis et rapports prêts à envoyer</a:t>
            </a:r>
            <a:endParaRPr lang="en-US" sz="3000" dirty="0"/>
          </a:p>
        </p:txBody>
      </p:sp>
      <p:pic>
        <p:nvPicPr>
          <p:cNvPr id="5" name="Image 0" descr="C:\Users\Administrator\Projects\guinea-pwa\docs\marketing\campagne\visuels\exemples-btp\paysage-1200x628\exemple-devis.png">    </p:cNvPr>
          <p:cNvPicPr>
            <a:picLocks noChangeAspect="1"/>
          </p:cNvPicPr>
          <p:nvPr/>
        </p:nvPicPr>
        <p:blipFill>
          <a:blip r:embed="rId1"/>
          <a:stretch>
            <a:fillRect/>
          </a:stretch>
        </p:blipFill>
        <p:spPr>
          <a:xfrm>
            <a:off x="548640" y="1737360"/>
            <a:ext cx="5440680" cy="2843784"/>
          </a:xfrm>
          <a:prstGeom prst="rect">
            <a:avLst/>
          </a:prstGeom>
        </p:spPr>
      </p:pic>
      <p:pic>
        <p:nvPicPr>
          <p:cNvPr id="6" name="Image 1" descr="C:\Users\Administrator\Projects\guinea-pwa\docs\marketing\campagne\visuels\exemples-btp\paysage-1200x628\exemple-rapport.png">    </p:cNvPr>
          <p:cNvPicPr>
            <a:picLocks noChangeAspect="1"/>
          </p:cNvPicPr>
          <p:nvPr/>
        </p:nvPicPr>
        <p:blipFill>
          <a:blip r:embed="rId2"/>
          <a:stretch>
            <a:fillRect/>
          </a:stretch>
        </p:blipFill>
        <p:spPr>
          <a:xfrm>
            <a:off x="6199632" y="1737360"/>
            <a:ext cx="5440680" cy="2843784"/>
          </a:xfrm>
          <a:prstGeom prst="rect">
            <a:avLst/>
          </a:prstGeom>
        </p:spPr>
      </p:pic>
      <p:sp>
        <p:nvSpPr>
          <p:cNvPr id="7" name="Text 2"/>
          <p:cNvSpPr/>
          <p:nvPr/>
        </p:nvSpPr>
        <p:spPr>
          <a:xfrm>
            <a:off x="548640" y="4709160"/>
            <a:ext cx="5440680" cy="548640"/>
          </a:xfrm>
          <a:prstGeom prst="rect">
            <a:avLst/>
          </a:prstGeom>
          <a:noFill/>
          <a:ln/>
        </p:spPr>
        <p:txBody>
          <a:bodyPr wrap="square" rtlCol="0" anchor="ctr"/>
          <a:lstStyle/>
          <a:p>
            <a:pPr indent="0" marL="0">
              <a:buNone/>
            </a:pPr>
            <a:r>
              <a:rPr lang="en-US" sz="1400" dirty="0">
                <a:solidFill>
                  <a:srgbClr val="CBD5E1"/>
                </a:solidFill>
                <a:latin typeface="Segoe UI" pitchFamily="34" charset="0"/>
                <a:ea typeface="Segoe UI" pitchFamily="34" charset="-122"/>
                <a:cs typeface="Segoe UI" pitchFamily="34" charset="-120"/>
              </a:rPr>
              <a:t>Devis PDF à votre logo : lots, TVA, montant en lettres</a:t>
            </a:r>
            <a:endParaRPr lang="en-US" sz="1400" dirty="0"/>
          </a:p>
        </p:txBody>
      </p:sp>
      <p:sp>
        <p:nvSpPr>
          <p:cNvPr id="8" name="Text 3"/>
          <p:cNvSpPr/>
          <p:nvPr/>
        </p:nvSpPr>
        <p:spPr>
          <a:xfrm>
            <a:off x="6199632" y="4709160"/>
            <a:ext cx="5440680" cy="548640"/>
          </a:xfrm>
          <a:prstGeom prst="rect">
            <a:avLst/>
          </a:prstGeom>
          <a:noFill/>
          <a:ln/>
        </p:spPr>
        <p:txBody>
          <a:bodyPr wrap="square" rtlCol="0" anchor="ctr"/>
          <a:lstStyle/>
          <a:p>
            <a:pPr indent="0" marL="0">
              <a:buNone/>
            </a:pPr>
            <a:r>
              <a:rPr lang="en-US" sz="1400" dirty="0">
                <a:solidFill>
                  <a:srgbClr val="CBD5E1"/>
                </a:solidFill>
                <a:latin typeface="Segoe UI" pitchFamily="34" charset="0"/>
                <a:ea typeface="Segoe UI" pitchFamily="34" charset="-122"/>
                <a:cs typeface="Segoe UI" pitchFamily="34" charset="-120"/>
              </a:rPr>
              <a:t>Rapport de chantier : prévu et réalisé, photos, synthèse</a:t>
            </a:r>
            <a:endParaRPr lang="en-US" sz="1400" dirty="0"/>
          </a:p>
        </p:txBody>
      </p:sp>
      <p:sp>
        <p:nvSpPr>
          <p:cNvPr id="9" name="Text 4"/>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10" name="Shape 5"/>
          <p:cNvSpPr/>
          <p:nvPr/>
        </p:nvSpPr>
        <p:spPr>
          <a:xfrm>
            <a:off x="0" y="6784848"/>
            <a:ext cx="12191695" cy="73152"/>
          </a:xfrm>
          <a:prstGeom prst="rect">
            <a:avLst/>
          </a:prstGeom>
          <a:solidFill>
            <a:srgbClr val="22D3EE"/>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92F"/>
        </a:solidFill>
      </p:bgPr>
    </p:bg>
    <p:spTree>
      <p:nvGrpSpPr>
        <p:cNvPr id="1" name=""/>
        <p:cNvGrpSpPr/>
        <p:nvPr/>
      </p:nvGrpSpPr>
      <p:grpSpPr>
        <a:xfrm>
          <a:off x="0" y="0"/>
          <a:ext cx="0" cy="0"/>
          <a:chOff x="0" y="0"/>
          <a:chExt cx="0" cy="0"/>
        </a:xfrm>
      </p:grpSpPr>
      <p:sp>
        <p:nvSpPr>
          <p:cNvPr id="3" name="Text 0"/>
          <p:cNvSpPr/>
          <p:nvPr/>
        </p:nvSpPr>
        <p:spPr>
          <a:xfrm>
            <a:off x="548640" y="384048"/>
            <a:ext cx="8229600" cy="320040"/>
          </a:xfrm>
          <a:prstGeom prst="rect">
            <a:avLst/>
          </a:prstGeom>
          <a:noFill/>
          <a:ln/>
        </p:spPr>
        <p:txBody>
          <a:bodyPr wrap="square" rtlCol="0" anchor="ctr"/>
          <a:lstStyle/>
          <a:p>
            <a:pPr indent="0" marL="0">
              <a:buNone/>
            </a:pPr>
            <a:r>
              <a:rPr lang="en-US" sz="1200" b="1" spc="300" kern="0" dirty="0">
                <a:solidFill>
                  <a:srgbClr val="22D3EE"/>
                </a:solidFill>
                <a:latin typeface="Segoe UI" pitchFamily="34" charset="0"/>
                <a:ea typeface="Segoe UI" pitchFamily="34" charset="-122"/>
                <a:cs typeface="Segoe UI" pitchFamily="34" charset="-120"/>
              </a:rPr>
              <a:t>ÉTABLISSEMENTS SCOLAIRES</a:t>
            </a:r>
            <a:endParaRPr lang="en-US" sz="1200" dirty="0"/>
          </a:p>
        </p:txBody>
      </p:sp>
      <p:sp>
        <p:nvSpPr>
          <p:cNvPr id="4" name="Text 1"/>
          <p:cNvSpPr/>
          <p:nvPr/>
        </p:nvSpPr>
        <p:spPr>
          <a:xfrm>
            <a:off x="548640" y="68580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Toute l’école sur un tableau de bord</a:t>
            </a:r>
            <a:endParaRPr lang="en-US" sz="3000" dirty="0"/>
          </a:p>
        </p:txBody>
      </p:sp>
      <p:sp>
        <p:nvSpPr>
          <p:cNvPr id="5" name="Text 2"/>
          <p:cNvSpPr/>
          <p:nvPr/>
        </p:nvSpPr>
        <p:spPr>
          <a:xfrm>
            <a:off x="548640" y="1691640"/>
            <a:ext cx="4754880" cy="4206240"/>
          </a:xfrm>
          <a:prstGeom prst="rect">
            <a:avLst/>
          </a:prstGeom>
          <a:noFill/>
          <a:ln/>
        </p:spPr>
        <p:txBody>
          <a:bodyPr wrap="square" rtlCol="0" anchor="t"/>
          <a:lstStyle/>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Inscriptions et dossiers des élèves</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Notes, moyennes et bulletins PDF automatiques</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Suivi des paiements de scolarité par classe</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Espace parents, élèves et enseignants</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Offre de lancement : 12 mois gratuits</a:t>
            </a:r>
            <a:endParaRPr lang="en-US" sz="1700" dirty="0"/>
          </a:p>
        </p:txBody>
      </p:sp>
      <p:sp>
        <p:nvSpPr>
          <p:cNvPr id="6" name="Shape 3"/>
          <p:cNvSpPr/>
          <p:nvPr/>
        </p:nvSpPr>
        <p:spPr>
          <a:xfrm>
            <a:off x="5623560" y="1645920"/>
            <a:ext cx="6035040" cy="3931920"/>
          </a:xfrm>
          <a:prstGeom prst="roundRect">
            <a:avLst>
              <a:gd name="adj" fmla="val 1860"/>
            </a:avLst>
          </a:prstGeom>
          <a:solidFill>
            <a:srgbClr val="4F46E5"/>
          </a:solidFill>
          <a:ln w="12700">
            <a:solidFill>
              <a:srgbClr val="4F46E5"/>
            </a:solidFill>
            <a:prstDash val="solid"/>
          </a:ln>
        </p:spPr>
      </p:sp>
      <p:pic>
        <p:nvPicPr>
          <p:cNvPr id="7" name="Image 0" descr="C:\Users\Administrator\Projects\guinea-pwa\docs\marketing\campagne\.work\prospection\ecole.jpg">    </p:cNvPr>
          <p:cNvPicPr>
            <a:picLocks noChangeAspect="1"/>
          </p:cNvPicPr>
          <p:nvPr/>
        </p:nvPicPr>
        <p:blipFill>
          <a:blip r:embed="rId1"/>
          <a:stretch>
            <a:fillRect/>
          </a:stretch>
        </p:blipFill>
        <p:spPr>
          <a:xfrm>
            <a:off x="5715000" y="1737360"/>
            <a:ext cx="5852160" cy="3657600"/>
          </a:xfrm>
          <a:prstGeom prst="rect">
            <a:avLst/>
          </a:prstGeom>
        </p:spPr>
      </p:pic>
      <p:sp>
        <p:nvSpPr>
          <p:cNvPr id="8" name="Text 4"/>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9" name="Shape 5"/>
          <p:cNvSpPr/>
          <p:nvPr/>
        </p:nvSpPr>
        <p:spPr>
          <a:xfrm>
            <a:off x="0" y="6784848"/>
            <a:ext cx="12191695" cy="73152"/>
          </a:xfrm>
          <a:prstGeom prst="rect">
            <a:avLst/>
          </a:prstGeom>
          <a:solidFill>
            <a:srgbClr val="22D3EE"/>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92F"/>
        </a:solidFill>
      </p:bgPr>
    </p:bg>
    <p:spTree>
      <p:nvGrpSpPr>
        <p:cNvPr id="1" name=""/>
        <p:cNvGrpSpPr/>
        <p:nvPr/>
      </p:nvGrpSpPr>
      <p:grpSpPr>
        <a:xfrm>
          <a:off x="0" y="0"/>
          <a:ext cx="0" cy="0"/>
          <a:chOff x="0" y="0"/>
          <a:chExt cx="0" cy="0"/>
        </a:xfrm>
      </p:grpSpPr>
      <p:sp>
        <p:nvSpPr>
          <p:cNvPr id="3" name="Text 0"/>
          <p:cNvSpPr/>
          <p:nvPr/>
        </p:nvSpPr>
        <p:spPr>
          <a:xfrm>
            <a:off x="548640" y="384048"/>
            <a:ext cx="8229600" cy="320040"/>
          </a:xfrm>
          <a:prstGeom prst="rect">
            <a:avLst/>
          </a:prstGeom>
          <a:noFill/>
          <a:ln/>
        </p:spPr>
        <p:txBody>
          <a:bodyPr wrap="square" rtlCol="0" anchor="ctr"/>
          <a:lstStyle/>
          <a:p>
            <a:pPr indent="0" marL="0">
              <a:buNone/>
            </a:pPr>
            <a:r>
              <a:rPr lang="en-US" sz="1200" b="1" spc="300" kern="0" dirty="0">
                <a:solidFill>
                  <a:srgbClr val="22D3EE"/>
                </a:solidFill>
                <a:latin typeface="Segoe UI" pitchFamily="34" charset="0"/>
                <a:ea typeface="Segoe UI" pitchFamily="34" charset="-122"/>
                <a:cs typeface="Segoe UI" pitchFamily="34" charset="-120"/>
              </a:rPr>
              <a:t>ONG &amp; PROJETS</a:t>
            </a:r>
            <a:endParaRPr lang="en-US" sz="1200" dirty="0"/>
          </a:p>
        </p:txBody>
      </p:sp>
      <p:sp>
        <p:nvSpPr>
          <p:cNvPr id="4" name="Text 1"/>
          <p:cNvSpPr/>
          <p:nvPr/>
        </p:nvSpPr>
        <p:spPr>
          <a:xfrm>
            <a:off x="548640" y="68580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Du terrain au rapport bailleur</a:t>
            </a:r>
            <a:endParaRPr lang="en-US" sz="3000" dirty="0"/>
          </a:p>
        </p:txBody>
      </p:sp>
      <p:sp>
        <p:nvSpPr>
          <p:cNvPr id="5" name="Text 2"/>
          <p:cNvSpPr/>
          <p:nvPr/>
        </p:nvSpPr>
        <p:spPr>
          <a:xfrm>
            <a:off x="548640" y="1691640"/>
            <a:ext cx="4754880" cy="4206240"/>
          </a:xfrm>
          <a:prstGeom prst="rect">
            <a:avLst/>
          </a:prstGeom>
          <a:noFill/>
          <a:ln/>
        </p:spPr>
        <p:txBody>
          <a:bodyPr wrap="square" rtlCol="0" anchor="t"/>
          <a:lstStyle/>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Projets, activités et budget prévu / dépensé</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Bénéficiaires par localité, cartographie</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Collecte sur téléphone et par QR code, même sans réseau</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Sondages et enquêtes</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Rapports prêts à partager avec les bailleurs</a:t>
            </a:r>
            <a:endParaRPr lang="en-US" sz="1700" dirty="0"/>
          </a:p>
        </p:txBody>
      </p:sp>
      <p:sp>
        <p:nvSpPr>
          <p:cNvPr id="6" name="Shape 3"/>
          <p:cNvSpPr/>
          <p:nvPr/>
        </p:nvSpPr>
        <p:spPr>
          <a:xfrm>
            <a:off x="5623560" y="1645920"/>
            <a:ext cx="6035040" cy="3931920"/>
          </a:xfrm>
          <a:prstGeom prst="roundRect">
            <a:avLst>
              <a:gd name="adj" fmla="val 1860"/>
            </a:avLst>
          </a:prstGeom>
          <a:solidFill>
            <a:srgbClr val="059669"/>
          </a:solidFill>
          <a:ln w="12700">
            <a:solidFill>
              <a:srgbClr val="059669"/>
            </a:solidFill>
            <a:prstDash val="solid"/>
          </a:ln>
        </p:spPr>
      </p:sp>
      <p:pic>
        <p:nvPicPr>
          <p:cNvPr id="7" name="Image 0" descr="C:\Users\Administrator\Projects\guinea-pwa\docs\marketing\campagne\.work\prospection\ong.jpg">    </p:cNvPr>
          <p:cNvPicPr>
            <a:picLocks noChangeAspect="1"/>
          </p:cNvPicPr>
          <p:nvPr/>
        </p:nvPicPr>
        <p:blipFill>
          <a:blip r:embed="rId1"/>
          <a:stretch>
            <a:fillRect/>
          </a:stretch>
        </p:blipFill>
        <p:spPr>
          <a:xfrm>
            <a:off x="5715000" y="1737360"/>
            <a:ext cx="5852160" cy="3657600"/>
          </a:xfrm>
          <a:prstGeom prst="rect">
            <a:avLst/>
          </a:prstGeom>
        </p:spPr>
      </p:pic>
      <p:sp>
        <p:nvSpPr>
          <p:cNvPr id="8" name="Text 4"/>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9" name="Shape 5"/>
          <p:cNvSpPr/>
          <p:nvPr/>
        </p:nvSpPr>
        <p:spPr>
          <a:xfrm>
            <a:off x="0" y="6784848"/>
            <a:ext cx="12191695" cy="73152"/>
          </a:xfrm>
          <a:prstGeom prst="rect">
            <a:avLst/>
          </a:prstGeom>
          <a:solidFill>
            <a:srgbClr val="22D3EE"/>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92F"/>
        </a:solidFill>
      </p:bgPr>
    </p:bg>
    <p:spTree>
      <p:nvGrpSpPr>
        <p:cNvPr id="1" name=""/>
        <p:cNvGrpSpPr/>
        <p:nvPr/>
      </p:nvGrpSpPr>
      <p:grpSpPr>
        <a:xfrm>
          <a:off x="0" y="0"/>
          <a:ext cx="0" cy="0"/>
          <a:chOff x="0" y="0"/>
          <a:chExt cx="0" cy="0"/>
        </a:xfrm>
      </p:grpSpPr>
      <p:sp>
        <p:nvSpPr>
          <p:cNvPr id="3" name="Text 0"/>
          <p:cNvSpPr/>
          <p:nvPr/>
        </p:nvSpPr>
        <p:spPr>
          <a:xfrm>
            <a:off x="548640" y="384048"/>
            <a:ext cx="8229600" cy="320040"/>
          </a:xfrm>
          <a:prstGeom prst="rect">
            <a:avLst/>
          </a:prstGeom>
          <a:noFill/>
          <a:ln/>
        </p:spPr>
        <p:txBody>
          <a:bodyPr wrap="square" rtlCol="0" anchor="ctr"/>
          <a:lstStyle/>
          <a:p>
            <a:pPr indent="0" marL="0">
              <a:buNone/>
            </a:pPr>
            <a:r>
              <a:rPr lang="en-US" sz="1200" b="1" spc="300" kern="0" dirty="0">
                <a:solidFill>
                  <a:srgbClr val="22D3EE"/>
                </a:solidFill>
                <a:latin typeface="Segoe UI" pitchFamily="34" charset="0"/>
                <a:ea typeface="Segoe UI" pitchFamily="34" charset="-122"/>
                <a:cs typeface="Segoe UI" pitchFamily="34" charset="-120"/>
              </a:rPr>
              <a:t>PME &amp; COMMERCE</a:t>
            </a:r>
            <a:endParaRPr lang="en-US" sz="1200" dirty="0"/>
          </a:p>
        </p:txBody>
      </p:sp>
      <p:sp>
        <p:nvSpPr>
          <p:cNvPr id="4" name="Text 1"/>
          <p:cNvSpPr/>
          <p:nvPr/>
        </p:nvSpPr>
        <p:spPr>
          <a:xfrm>
            <a:off x="548640" y="68580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Votre résultat du mois, en direct</a:t>
            </a:r>
            <a:endParaRPr lang="en-US" sz="3000" dirty="0"/>
          </a:p>
        </p:txBody>
      </p:sp>
      <p:sp>
        <p:nvSpPr>
          <p:cNvPr id="5" name="Text 2"/>
          <p:cNvSpPr/>
          <p:nvPr/>
        </p:nvSpPr>
        <p:spPr>
          <a:xfrm>
            <a:off x="548640" y="1691640"/>
            <a:ext cx="4754880" cy="4206240"/>
          </a:xfrm>
          <a:prstGeom prst="rect">
            <a:avLst/>
          </a:prstGeom>
          <a:noFill/>
          <a:ln/>
        </p:spPr>
        <p:txBody>
          <a:bodyPr wrap="square" rtlCol="0" anchor="t"/>
          <a:lstStyle/>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Ventes, achats et dépenses</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Stocks avec alerte quand un article est bas</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Crédits clients et dettes fournisseurs</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Plusieurs boutiques suivies séparément</a:t>
            </a:r>
            <a:endParaRPr lang="en-US" sz="1700" dirty="0"/>
          </a:p>
          <a:p>
            <a:pPr marL="342900" indent="-342900">
              <a:spcAft>
                <a:spcPts val="1000"/>
              </a:spcAft>
              <a:buSzPct val="100000"/>
              <a:buChar char="●"/>
            </a:pPr>
            <a:r>
              <a:rPr lang="en-US" sz="1700" dirty="0">
                <a:solidFill>
                  <a:srgbClr val="FFFFFF"/>
                </a:solidFill>
                <a:latin typeface="Segoe UI" pitchFamily="34" charset="0"/>
                <a:ea typeface="Segoe UI" pitchFamily="34" charset="-122"/>
                <a:cs typeface="Segoe UI" pitchFamily="34" charset="-120"/>
              </a:rPr>
              <a:t>Recommandations automatiques de KonaAI</a:t>
            </a:r>
            <a:endParaRPr lang="en-US" sz="1700" dirty="0"/>
          </a:p>
        </p:txBody>
      </p:sp>
      <p:sp>
        <p:nvSpPr>
          <p:cNvPr id="6" name="Shape 3"/>
          <p:cNvSpPr/>
          <p:nvPr/>
        </p:nvSpPr>
        <p:spPr>
          <a:xfrm>
            <a:off x="5623560" y="1645920"/>
            <a:ext cx="6035040" cy="3931920"/>
          </a:xfrm>
          <a:prstGeom prst="roundRect">
            <a:avLst>
              <a:gd name="adj" fmla="val 1860"/>
            </a:avLst>
          </a:prstGeom>
          <a:solidFill>
            <a:srgbClr val="7C3AED"/>
          </a:solidFill>
          <a:ln w="12700">
            <a:solidFill>
              <a:srgbClr val="7C3AED"/>
            </a:solidFill>
            <a:prstDash val="solid"/>
          </a:ln>
        </p:spPr>
      </p:sp>
      <p:pic>
        <p:nvPicPr>
          <p:cNvPr id="7" name="Image 0" descr="C:\Users\Administrator\Projects\guinea-pwa\docs\marketing\campagne\.work\prospection\pme.jpg">    </p:cNvPr>
          <p:cNvPicPr>
            <a:picLocks noChangeAspect="1"/>
          </p:cNvPicPr>
          <p:nvPr/>
        </p:nvPicPr>
        <p:blipFill>
          <a:blip r:embed="rId1"/>
          <a:stretch>
            <a:fillRect/>
          </a:stretch>
        </p:blipFill>
        <p:spPr>
          <a:xfrm>
            <a:off x="5715000" y="1737360"/>
            <a:ext cx="5852160" cy="3657600"/>
          </a:xfrm>
          <a:prstGeom prst="rect">
            <a:avLst/>
          </a:prstGeom>
        </p:spPr>
      </p:pic>
      <p:sp>
        <p:nvSpPr>
          <p:cNvPr id="8" name="Text 4"/>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9" name="Shape 5"/>
          <p:cNvSpPr/>
          <p:nvPr/>
        </p:nvSpPr>
        <p:spPr>
          <a:xfrm>
            <a:off x="0" y="6784848"/>
            <a:ext cx="12191695" cy="73152"/>
          </a:xfrm>
          <a:prstGeom prst="rect">
            <a:avLst/>
          </a:prstGeom>
          <a:solidFill>
            <a:srgbClr val="22D3EE"/>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92F"/>
        </a:solidFill>
      </p:bgPr>
    </p:bg>
    <p:spTree>
      <p:nvGrpSpPr>
        <p:cNvPr id="1" name=""/>
        <p:cNvGrpSpPr/>
        <p:nvPr/>
      </p:nvGrpSpPr>
      <p:grpSpPr>
        <a:xfrm>
          <a:off x="0" y="0"/>
          <a:ext cx="0" cy="0"/>
          <a:chOff x="0" y="0"/>
          <a:chExt cx="0" cy="0"/>
        </a:xfrm>
      </p:grpSpPr>
      <p:sp>
        <p:nvSpPr>
          <p:cNvPr id="3" name="Text 0"/>
          <p:cNvSpPr/>
          <p:nvPr/>
        </p:nvSpPr>
        <p:spPr>
          <a:xfrm>
            <a:off x="548640" y="384048"/>
            <a:ext cx="8229600" cy="320040"/>
          </a:xfrm>
          <a:prstGeom prst="rect">
            <a:avLst/>
          </a:prstGeom>
          <a:noFill/>
          <a:ln/>
        </p:spPr>
        <p:txBody>
          <a:bodyPr wrap="square" rtlCol="0" anchor="ctr"/>
          <a:lstStyle/>
          <a:p>
            <a:pPr indent="0" marL="0">
              <a:buNone/>
            </a:pPr>
            <a:r>
              <a:rPr lang="en-US" sz="1200" b="1" spc="300" kern="0" dirty="0">
                <a:solidFill>
                  <a:srgbClr val="22D3EE"/>
                </a:solidFill>
                <a:latin typeface="Segoe UI" pitchFamily="34" charset="0"/>
                <a:ea typeface="Segoe UI" pitchFamily="34" charset="-122"/>
                <a:cs typeface="Segoe UI" pitchFamily="34" charset="-120"/>
              </a:rPr>
              <a:t>EXEMPLES DE DOCUMENTS</a:t>
            </a:r>
            <a:endParaRPr lang="en-US" sz="1200" dirty="0"/>
          </a:p>
        </p:txBody>
      </p:sp>
      <p:sp>
        <p:nvSpPr>
          <p:cNvPr id="4" name="Text 1"/>
          <p:cNvSpPr/>
          <p:nvPr/>
        </p:nvSpPr>
        <p:spPr>
          <a:xfrm>
            <a:off x="548640" y="68580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Des documents professionnels, sans mise en page</a:t>
            </a:r>
            <a:endParaRPr lang="en-US" sz="3000" dirty="0"/>
          </a:p>
        </p:txBody>
      </p:sp>
      <p:pic>
        <p:nvPicPr>
          <p:cNvPr id="5" name="Image 0" descr="C:\Users\Administrator\Projects\guinea-pwa\docs\marketing\campagne\visuels\exemples-ecole\paysage-1200x628\exemple-bulletin.png">    </p:cNvPr>
          <p:cNvPicPr>
            <a:picLocks noChangeAspect="1"/>
          </p:cNvPicPr>
          <p:nvPr/>
        </p:nvPicPr>
        <p:blipFill>
          <a:blip r:embed="rId1"/>
          <a:stretch>
            <a:fillRect/>
          </a:stretch>
        </p:blipFill>
        <p:spPr>
          <a:xfrm>
            <a:off x="548640" y="1920240"/>
            <a:ext cx="3566160" cy="1865376"/>
          </a:xfrm>
          <a:prstGeom prst="rect">
            <a:avLst/>
          </a:prstGeom>
        </p:spPr>
      </p:pic>
      <p:sp>
        <p:nvSpPr>
          <p:cNvPr id="6" name="Text 2"/>
          <p:cNvSpPr/>
          <p:nvPr/>
        </p:nvSpPr>
        <p:spPr>
          <a:xfrm>
            <a:off x="548640" y="3886200"/>
            <a:ext cx="3566160" cy="457200"/>
          </a:xfrm>
          <a:prstGeom prst="rect">
            <a:avLst/>
          </a:prstGeom>
          <a:noFill/>
          <a:ln/>
        </p:spPr>
        <p:txBody>
          <a:bodyPr wrap="square"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Bulletin scolaire</a:t>
            </a:r>
            <a:endParaRPr lang="en-US" sz="1500" dirty="0"/>
          </a:p>
        </p:txBody>
      </p:sp>
      <p:pic>
        <p:nvPicPr>
          <p:cNvPr id="7" name="Image 1" descr="C:\Users\Administrator\Projects\guinea-pwa\docs\marketing\campagne\visuels\exemples-ong\paysage-1200x628\exemple-bailleur.png">    </p:cNvPr>
          <p:cNvPicPr>
            <a:picLocks noChangeAspect="1"/>
          </p:cNvPicPr>
          <p:nvPr/>
        </p:nvPicPr>
        <p:blipFill>
          <a:blip r:embed="rId2"/>
          <a:stretch>
            <a:fillRect/>
          </a:stretch>
        </p:blipFill>
        <p:spPr>
          <a:xfrm>
            <a:off x="4297680" y="1920240"/>
            <a:ext cx="3566160" cy="1865376"/>
          </a:xfrm>
          <a:prstGeom prst="rect">
            <a:avLst/>
          </a:prstGeom>
        </p:spPr>
      </p:pic>
      <p:sp>
        <p:nvSpPr>
          <p:cNvPr id="8" name="Text 3"/>
          <p:cNvSpPr/>
          <p:nvPr/>
        </p:nvSpPr>
        <p:spPr>
          <a:xfrm>
            <a:off x="4297680" y="3886200"/>
            <a:ext cx="3566160" cy="457200"/>
          </a:xfrm>
          <a:prstGeom prst="rect">
            <a:avLst/>
          </a:prstGeom>
          <a:noFill/>
          <a:ln/>
        </p:spPr>
        <p:txBody>
          <a:bodyPr wrap="square"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Rapport bailleur</a:t>
            </a:r>
            <a:endParaRPr lang="en-US" sz="1500" dirty="0"/>
          </a:p>
        </p:txBody>
      </p:sp>
      <p:pic>
        <p:nvPicPr>
          <p:cNvPr id="9" name="Image 2" descr="C:\Users\Administrator\Projects\guinea-pwa\docs\marketing\campagne\visuels\exemples-pme\paysage-1200x628\exemple-analyse.png">    </p:cNvPr>
          <p:cNvPicPr>
            <a:picLocks noChangeAspect="1"/>
          </p:cNvPicPr>
          <p:nvPr/>
        </p:nvPicPr>
        <p:blipFill>
          <a:blip r:embed="rId3"/>
          <a:stretch>
            <a:fillRect/>
          </a:stretch>
        </p:blipFill>
        <p:spPr>
          <a:xfrm>
            <a:off x="8046720" y="1920240"/>
            <a:ext cx="3566160" cy="1865376"/>
          </a:xfrm>
          <a:prstGeom prst="rect">
            <a:avLst/>
          </a:prstGeom>
        </p:spPr>
      </p:pic>
      <p:sp>
        <p:nvSpPr>
          <p:cNvPr id="10" name="Text 4"/>
          <p:cNvSpPr/>
          <p:nvPr/>
        </p:nvSpPr>
        <p:spPr>
          <a:xfrm>
            <a:off x="8046720" y="3886200"/>
            <a:ext cx="3566160" cy="457200"/>
          </a:xfrm>
          <a:prstGeom prst="rect">
            <a:avLst/>
          </a:prstGeom>
          <a:noFill/>
          <a:ln/>
        </p:spPr>
        <p:txBody>
          <a:bodyPr wrap="square"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Analyse financière PME</a:t>
            </a:r>
            <a:endParaRPr lang="en-US" sz="1500" dirty="0"/>
          </a:p>
        </p:txBody>
      </p:sp>
      <p:sp>
        <p:nvSpPr>
          <p:cNvPr id="11" name="Text 5"/>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12" name="Shape 6"/>
          <p:cNvSpPr/>
          <p:nvPr/>
        </p:nvSpPr>
        <p:spPr>
          <a:xfrm>
            <a:off x="0" y="6784848"/>
            <a:ext cx="12191695" cy="73152"/>
          </a:xfrm>
          <a:prstGeom prst="rect">
            <a:avLst/>
          </a:prstGeom>
          <a:solidFill>
            <a:srgbClr val="22D3EE"/>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92F"/>
        </a:solidFill>
      </p:bgPr>
    </p:bg>
    <p:spTree>
      <p:nvGrpSpPr>
        <p:cNvPr id="1" name=""/>
        <p:cNvGrpSpPr/>
        <p:nvPr/>
      </p:nvGrpSpPr>
      <p:grpSpPr>
        <a:xfrm>
          <a:off x="0" y="0"/>
          <a:ext cx="0" cy="0"/>
          <a:chOff x="0" y="0"/>
          <a:chExt cx="0" cy="0"/>
        </a:xfrm>
      </p:grpSpPr>
      <p:sp>
        <p:nvSpPr>
          <p:cNvPr id="3" name="Text 0"/>
          <p:cNvSpPr/>
          <p:nvPr/>
        </p:nvSpPr>
        <p:spPr>
          <a:xfrm>
            <a:off x="548640" y="384048"/>
            <a:ext cx="8229600" cy="320040"/>
          </a:xfrm>
          <a:prstGeom prst="rect">
            <a:avLst/>
          </a:prstGeom>
          <a:noFill/>
          <a:ln/>
        </p:spPr>
        <p:txBody>
          <a:bodyPr wrap="square" rtlCol="0" anchor="ctr"/>
          <a:lstStyle/>
          <a:p>
            <a:pPr indent="0" marL="0">
              <a:buNone/>
            </a:pPr>
            <a:r>
              <a:rPr lang="en-US" sz="1200" b="1" spc="300" kern="0" dirty="0">
                <a:solidFill>
                  <a:srgbClr val="22D3EE"/>
                </a:solidFill>
                <a:latin typeface="Segoe UI" pitchFamily="34" charset="0"/>
                <a:ea typeface="Segoe UI" pitchFamily="34" charset="-122"/>
                <a:cs typeface="Segoe UI" pitchFamily="34" charset="-120"/>
              </a:rPr>
              <a:t>PENSÉ POUR LA GUINÉE</a:t>
            </a:r>
            <a:endParaRPr lang="en-US" sz="1200" dirty="0"/>
          </a:p>
        </p:txBody>
      </p:sp>
      <p:sp>
        <p:nvSpPr>
          <p:cNvPr id="4" name="Text 1"/>
          <p:cNvSpPr/>
          <p:nvPr/>
        </p:nvSpPr>
        <p:spPr>
          <a:xfrm>
            <a:off x="548640" y="68580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Un outil conçu pour notre terrain</a:t>
            </a:r>
            <a:endParaRPr lang="en-US" sz="3000" dirty="0"/>
          </a:p>
        </p:txBody>
      </p:sp>
      <p:sp>
        <p:nvSpPr>
          <p:cNvPr id="5" name="Shape 2"/>
          <p:cNvSpPr/>
          <p:nvPr/>
        </p:nvSpPr>
        <p:spPr>
          <a:xfrm>
            <a:off x="548640" y="173736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6" name="Shape 3"/>
          <p:cNvSpPr/>
          <p:nvPr/>
        </p:nvSpPr>
        <p:spPr>
          <a:xfrm>
            <a:off x="548640" y="1901952"/>
            <a:ext cx="64008" cy="1682496"/>
          </a:xfrm>
          <a:prstGeom prst="rect">
            <a:avLst/>
          </a:prstGeom>
          <a:solidFill>
            <a:srgbClr val="22D3EE"/>
          </a:solidFill>
          <a:ln w="12700">
            <a:solidFill>
              <a:srgbClr val="22D3EE"/>
            </a:solidFill>
            <a:prstDash val="solid"/>
          </a:ln>
        </p:spPr>
      </p:sp>
      <p:sp>
        <p:nvSpPr>
          <p:cNvPr id="7" name="Text 4"/>
          <p:cNvSpPr/>
          <p:nvPr/>
        </p:nvSpPr>
        <p:spPr>
          <a:xfrm>
            <a:off x="822960" y="192024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3G et hors ligne</a:t>
            </a:r>
            <a:endParaRPr lang="en-US" sz="2000" dirty="0"/>
          </a:p>
        </p:txBody>
      </p:sp>
      <p:sp>
        <p:nvSpPr>
          <p:cNvPr id="8" name="Text 5"/>
          <p:cNvSpPr/>
          <p:nvPr/>
        </p:nvSpPr>
        <p:spPr>
          <a:xfrm>
            <a:off x="822960" y="246888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Les saisies faites sans réseau partent automatiquement au retour de la connexion.</a:t>
            </a:r>
            <a:endParaRPr lang="en-US" sz="1600" dirty="0"/>
          </a:p>
        </p:txBody>
      </p:sp>
      <p:sp>
        <p:nvSpPr>
          <p:cNvPr id="9" name="Shape 6"/>
          <p:cNvSpPr/>
          <p:nvPr/>
        </p:nvSpPr>
        <p:spPr>
          <a:xfrm>
            <a:off x="6172200" y="173736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10" name="Shape 7"/>
          <p:cNvSpPr/>
          <p:nvPr/>
        </p:nvSpPr>
        <p:spPr>
          <a:xfrm>
            <a:off x="6172200" y="1901952"/>
            <a:ext cx="64008" cy="1682496"/>
          </a:xfrm>
          <a:prstGeom prst="rect">
            <a:avLst/>
          </a:prstGeom>
          <a:solidFill>
            <a:srgbClr val="22D3EE"/>
          </a:solidFill>
          <a:ln w="12700">
            <a:solidFill>
              <a:srgbClr val="22D3EE"/>
            </a:solidFill>
            <a:prstDash val="solid"/>
          </a:ln>
        </p:spPr>
      </p:sp>
      <p:sp>
        <p:nvSpPr>
          <p:cNvPr id="11" name="Text 8"/>
          <p:cNvSpPr/>
          <p:nvPr/>
        </p:nvSpPr>
        <p:spPr>
          <a:xfrm>
            <a:off x="6446520" y="192024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Français et francs guinéens</a:t>
            </a:r>
            <a:endParaRPr lang="en-US" sz="2000" dirty="0"/>
          </a:p>
        </p:txBody>
      </p:sp>
      <p:sp>
        <p:nvSpPr>
          <p:cNvPr id="12" name="Text 9"/>
          <p:cNvSpPr/>
          <p:nvPr/>
        </p:nvSpPr>
        <p:spPr>
          <a:xfrm>
            <a:off x="6446520" y="246888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Montants en GNF, montant en lettres, formats de documents habituels.</a:t>
            </a:r>
            <a:endParaRPr lang="en-US" sz="1600" dirty="0"/>
          </a:p>
        </p:txBody>
      </p:sp>
      <p:sp>
        <p:nvSpPr>
          <p:cNvPr id="13" name="Shape 10"/>
          <p:cNvSpPr/>
          <p:nvPr/>
        </p:nvSpPr>
        <p:spPr>
          <a:xfrm>
            <a:off x="548640" y="397764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14" name="Shape 11"/>
          <p:cNvSpPr/>
          <p:nvPr/>
        </p:nvSpPr>
        <p:spPr>
          <a:xfrm>
            <a:off x="548640" y="4142232"/>
            <a:ext cx="64008" cy="1682496"/>
          </a:xfrm>
          <a:prstGeom prst="rect">
            <a:avLst/>
          </a:prstGeom>
          <a:solidFill>
            <a:srgbClr val="22D3EE"/>
          </a:solidFill>
          <a:ln w="12700">
            <a:solidFill>
              <a:srgbClr val="22D3EE"/>
            </a:solidFill>
            <a:prstDash val="solid"/>
          </a:ln>
        </p:spPr>
      </p:sp>
      <p:sp>
        <p:nvSpPr>
          <p:cNvPr id="15" name="Text 12"/>
          <p:cNvSpPr/>
          <p:nvPr/>
        </p:nvSpPr>
        <p:spPr>
          <a:xfrm>
            <a:off x="822960" y="416052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Support local</a:t>
            </a:r>
            <a:endParaRPr lang="en-US" sz="2000" dirty="0"/>
          </a:p>
        </p:txBody>
      </p:sp>
      <p:sp>
        <p:nvSpPr>
          <p:cNvPr id="16" name="Text 13"/>
          <p:cNvSpPr/>
          <p:nvPr/>
        </p:nvSpPr>
        <p:spPr>
          <a:xfrm>
            <a:off x="822960" y="470916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Une équipe joignable sur WhatsApp, qui peut se déplacer pour former.</a:t>
            </a:r>
            <a:endParaRPr lang="en-US" sz="1600" dirty="0"/>
          </a:p>
        </p:txBody>
      </p:sp>
      <p:sp>
        <p:nvSpPr>
          <p:cNvPr id="17" name="Shape 14"/>
          <p:cNvSpPr/>
          <p:nvPr/>
        </p:nvSpPr>
        <p:spPr>
          <a:xfrm>
            <a:off x="6172200" y="397764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18" name="Shape 15"/>
          <p:cNvSpPr/>
          <p:nvPr/>
        </p:nvSpPr>
        <p:spPr>
          <a:xfrm>
            <a:off x="6172200" y="4142232"/>
            <a:ext cx="64008" cy="1682496"/>
          </a:xfrm>
          <a:prstGeom prst="rect">
            <a:avLst/>
          </a:prstGeom>
          <a:solidFill>
            <a:srgbClr val="22D3EE"/>
          </a:solidFill>
          <a:ln w="12700">
            <a:solidFill>
              <a:srgbClr val="22D3EE"/>
            </a:solidFill>
            <a:prstDash val="solid"/>
          </a:ln>
        </p:spPr>
      </p:sp>
      <p:sp>
        <p:nvSpPr>
          <p:cNvPr id="19" name="Text 16"/>
          <p:cNvSpPr/>
          <p:nvPr/>
        </p:nvSpPr>
        <p:spPr>
          <a:xfrm>
            <a:off x="6446520" y="416052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Prix adaptés</a:t>
            </a:r>
            <a:endParaRPr lang="en-US" sz="2000" dirty="0"/>
          </a:p>
        </p:txBody>
      </p:sp>
      <p:sp>
        <p:nvSpPr>
          <p:cNvPr id="20" name="Text 17"/>
          <p:cNvSpPr/>
          <p:nvPr/>
        </p:nvSpPr>
        <p:spPr>
          <a:xfrm>
            <a:off x="6446520" y="470916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Période gratuite au lancement, puis abonnement mensuel accessible.</a:t>
            </a:r>
            <a:endParaRPr lang="en-US" sz="1600" dirty="0"/>
          </a:p>
        </p:txBody>
      </p:sp>
      <p:sp>
        <p:nvSpPr>
          <p:cNvPr id="21" name="Text 18"/>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22" name="Shape 19"/>
          <p:cNvSpPr/>
          <p:nvPr/>
        </p:nvSpPr>
        <p:spPr>
          <a:xfrm>
            <a:off x="0" y="6784848"/>
            <a:ext cx="12191695" cy="73152"/>
          </a:xfrm>
          <a:prstGeom prst="rect">
            <a:avLst/>
          </a:prstGeom>
          <a:solidFill>
            <a:srgbClr val="22D3EE"/>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92F"/>
        </a:solidFill>
      </p:bgPr>
    </p:bg>
    <p:spTree>
      <p:nvGrpSpPr>
        <p:cNvPr id="1" name=""/>
        <p:cNvGrpSpPr/>
        <p:nvPr/>
      </p:nvGrpSpPr>
      <p:grpSpPr>
        <a:xfrm>
          <a:off x="0" y="0"/>
          <a:ext cx="0" cy="0"/>
          <a:chOff x="0" y="0"/>
          <a:chExt cx="0" cy="0"/>
        </a:xfrm>
      </p:grpSpPr>
      <p:sp>
        <p:nvSpPr>
          <p:cNvPr id="3" name="Text 0"/>
          <p:cNvSpPr/>
          <p:nvPr/>
        </p:nvSpPr>
        <p:spPr>
          <a:xfrm>
            <a:off x="548640" y="384048"/>
            <a:ext cx="8229600" cy="320040"/>
          </a:xfrm>
          <a:prstGeom prst="rect">
            <a:avLst/>
          </a:prstGeom>
          <a:noFill/>
          <a:ln/>
        </p:spPr>
        <p:txBody>
          <a:bodyPr wrap="square" rtlCol="0" anchor="ctr"/>
          <a:lstStyle/>
          <a:p>
            <a:pPr indent="0" marL="0">
              <a:buNone/>
            </a:pPr>
            <a:r>
              <a:rPr lang="en-US" sz="1200" b="1" spc="300" kern="0" dirty="0">
                <a:solidFill>
                  <a:srgbClr val="22D3EE"/>
                </a:solidFill>
                <a:latin typeface="Segoe UI" pitchFamily="34" charset="0"/>
                <a:ea typeface="Segoe UI" pitchFamily="34" charset="-122"/>
                <a:cs typeface="Segoe UI" pitchFamily="34" charset="-120"/>
              </a:rPr>
              <a:t>PROPOSITION DE PARTENARIAT</a:t>
            </a:r>
            <a:endParaRPr lang="en-US" sz="1200" dirty="0"/>
          </a:p>
        </p:txBody>
      </p:sp>
      <p:sp>
        <p:nvSpPr>
          <p:cNvPr id="4" name="Text 1"/>
          <p:cNvSpPr/>
          <p:nvPr/>
        </p:nvSpPr>
        <p:spPr>
          <a:xfrm>
            <a:off x="548640" y="68580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Pour les organisations professionnelles</a:t>
            </a:r>
            <a:endParaRPr lang="en-US" sz="3000" dirty="0"/>
          </a:p>
        </p:txBody>
      </p:sp>
      <p:sp>
        <p:nvSpPr>
          <p:cNvPr id="5" name="Shape 2"/>
          <p:cNvSpPr/>
          <p:nvPr/>
        </p:nvSpPr>
        <p:spPr>
          <a:xfrm>
            <a:off x="548640" y="173736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6" name="Shape 3"/>
          <p:cNvSpPr/>
          <p:nvPr/>
        </p:nvSpPr>
        <p:spPr>
          <a:xfrm>
            <a:off x="548640" y="1901952"/>
            <a:ext cx="64008" cy="1682496"/>
          </a:xfrm>
          <a:prstGeom prst="rect">
            <a:avLst/>
          </a:prstGeom>
          <a:solidFill>
            <a:srgbClr val="22D3EE"/>
          </a:solidFill>
          <a:ln w="12700">
            <a:solidFill>
              <a:srgbClr val="22D3EE"/>
            </a:solidFill>
            <a:prstDash val="solid"/>
          </a:ln>
        </p:spPr>
      </p:sp>
      <p:sp>
        <p:nvSpPr>
          <p:cNvPr id="7" name="Text 4"/>
          <p:cNvSpPr/>
          <p:nvPr/>
        </p:nvSpPr>
        <p:spPr>
          <a:xfrm>
            <a:off x="822960" y="192024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Atelier pratique pour vos membres</a:t>
            </a:r>
            <a:endParaRPr lang="en-US" sz="2000" dirty="0"/>
          </a:p>
        </p:txBody>
      </p:sp>
      <p:sp>
        <p:nvSpPr>
          <p:cNvPr id="8" name="Text 5"/>
          <p:cNvSpPr/>
          <p:nvPr/>
        </p:nvSpPr>
        <p:spPr>
          <a:xfrm>
            <a:off x="822960" y="246888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1 heure, sur place ou en ligne : « Du métré au rapport client », « Du terrain au rapport bailleur »…</a:t>
            </a:r>
            <a:endParaRPr lang="en-US" sz="1600" dirty="0"/>
          </a:p>
        </p:txBody>
      </p:sp>
      <p:sp>
        <p:nvSpPr>
          <p:cNvPr id="9" name="Shape 6"/>
          <p:cNvSpPr/>
          <p:nvPr/>
        </p:nvSpPr>
        <p:spPr>
          <a:xfrm>
            <a:off x="6172200" y="173736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10" name="Shape 7"/>
          <p:cNvSpPr/>
          <p:nvPr/>
        </p:nvSpPr>
        <p:spPr>
          <a:xfrm>
            <a:off x="6172200" y="1901952"/>
            <a:ext cx="64008" cy="1682496"/>
          </a:xfrm>
          <a:prstGeom prst="rect">
            <a:avLst/>
          </a:prstGeom>
          <a:solidFill>
            <a:srgbClr val="22D3EE"/>
          </a:solidFill>
          <a:ln w="12700">
            <a:solidFill>
              <a:srgbClr val="22D3EE"/>
            </a:solidFill>
            <a:prstDash val="solid"/>
          </a:ln>
        </p:spPr>
      </p:sp>
      <p:sp>
        <p:nvSpPr>
          <p:cNvPr id="11" name="Text 8"/>
          <p:cNvSpPr/>
          <p:nvPr/>
        </p:nvSpPr>
        <p:spPr>
          <a:xfrm>
            <a:off x="6446520" y="192024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Programme pilote réservé</a:t>
            </a:r>
            <a:endParaRPr lang="en-US" sz="2000" dirty="0"/>
          </a:p>
        </p:txBody>
      </p:sp>
      <p:sp>
        <p:nvSpPr>
          <p:cNvPr id="12" name="Text 9"/>
          <p:cNvSpPr/>
          <p:nvPr/>
        </p:nvSpPr>
        <p:spPr>
          <a:xfrm>
            <a:off x="6446520" y="246888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Accompagnement de 30 jours pour vos adhérents, dans la limite de 10 organisations par secteur.</a:t>
            </a:r>
            <a:endParaRPr lang="en-US" sz="1600" dirty="0"/>
          </a:p>
        </p:txBody>
      </p:sp>
      <p:sp>
        <p:nvSpPr>
          <p:cNvPr id="13" name="Shape 10"/>
          <p:cNvSpPr/>
          <p:nvPr/>
        </p:nvSpPr>
        <p:spPr>
          <a:xfrm>
            <a:off x="548640" y="397764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14" name="Shape 11"/>
          <p:cNvSpPr/>
          <p:nvPr/>
        </p:nvSpPr>
        <p:spPr>
          <a:xfrm>
            <a:off x="548640" y="4142232"/>
            <a:ext cx="64008" cy="1682496"/>
          </a:xfrm>
          <a:prstGeom prst="rect">
            <a:avLst/>
          </a:prstGeom>
          <a:solidFill>
            <a:srgbClr val="22D3EE"/>
          </a:solidFill>
          <a:ln w="12700">
            <a:solidFill>
              <a:srgbClr val="22D3EE"/>
            </a:solidFill>
            <a:prstDash val="solid"/>
          </a:ln>
        </p:spPr>
      </p:sp>
      <p:sp>
        <p:nvSpPr>
          <p:cNvPr id="15" name="Text 12"/>
          <p:cNvSpPr/>
          <p:nvPr/>
        </p:nvSpPr>
        <p:spPr>
          <a:xfrm>
            <a:off x="822960" y="416052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Un référent KonaData dédié</a:t>
            </a:r>
            <a:endParaRPr lang="en-US" sz="2000" dirty="0"/>
          </a:p>
        </p:txBody>
      </p:sp>
      <p:sp>
        <p:nvSpPr>
          <p:cNvPr id="16" name="Text 13"/>
          <p:cNvSpPr/>
          <p:nvPr/>
        </p:nvSpPr>
        <p:spPr>
          <a:xfrm>
            <a:off x="822960" y="470916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Un interlocuteur unique pour vos membres, joignable sur WhatsApp.</a:t>
            </a:r>
            <a:endParaRPr lang="en-US" sz="1600" dirty="0"/>
          </a:p>
        </p:txBody>
      </p:sp>
      <p:sp>
        <p:nvSpPr>
          <p:cNvPr id="17" name="Shape 14"/>
          <p:cNvSpPr/>
          <p:nvPr/>
        </p:nvSpPr>
        <p:spPr>
          <a:xfrm>
            <a:off x="6172200" y="397764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18" name="Shape 15"/>
          <p:cNvSpPr/>
          <p:nvPr/>
        </p:nvSpPr>
        <p:spPr>
          <a:xfrm>
            <a:off x="6172200" y="4142232"/>
            <a:ext cx="64008" cy="1682496"/>
          </a:xfrm>
          <a:prstGeom prst="rect">
            <a:avLst/>
          </a:prstGeom>
          <a:solidFill>
            <a:srgbClr val="22D3EE"/>
          </a:solidFill>
          <a:ln w="12700">
            <a:solidFill>
              <a:srgbClr val="22D3EE"/>
            </a:solidFill>
            <a:prstDash val="solid"/>
          </a:ln>
        </p:spPr>
      </p:sp>
      <p:sp>
        <p:nvSpPr>
          <p:cNvPr id="19" name="Text 16"/>
          <p:cNvSpPr/>
          <p:nvPr/>
        </p:nvSpPr>
        <p:spPr>
          <a:xfrm>
            <a:off x="6446520" y="416052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Retours d’expérience</a:t>
            </a:r>
            <a:endParaRPr lang="en-US" sz="2000" dirty="0"/>
          </a:p>
        </p:txBody>
      </p:sp>
      <p:sp>
        <p:nvSpPr>
          <p:cNvPr id="20" name="Text 17"/>
          <p:cNvSpPr/>
          <p:nvPr/>
        </p:nvSpPr>
        <p:spPr>
          <a:xfrm>
            <a:off x="6446520" y="470916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Présentation des résultats des pilotes à vos membres, avec leur accord.</a:t>
            </a:r>
            <a:endParaRPr lang="en-US" sz="1600" dirty="0"/>
          </a:p>
        </p:txBody>
      </p:sp>
      <p:sp>
        <p:nvSpPr>
          <p:cNvPr id="21" name="Text 18"/>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22" name="Shape 19"/>
          <p:cNvSpPr/>
          <p:nvPr/>
        </p:nvSpPr>
        <p:spPr>
          <a:xfrm>
            <a:off x="0" y="6784848"/>
            <a:ext cx="12191695" cy="73152"/>
          </a:xfrm>
          <a:prstGeom prst="rect">
            <a:avLst/>
          </a:prstGeom>
          <a:solidFill>
            <a:srgbClr val="22D3EE"/>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92F"/>
        </a:solidFill>
      </p:bgPr>
    </p:bg>
    <p:spTree>
      <p:nvGrpSpPr>
        <p:cNvPr id="1" name=""/>
        <p:cNvGrpSpPr/>
        <p:nvPr/>
      </p:nvGrpSpPr>
      <p:grpSpPr>
        <a:xfrm>
          <a:off x="0" y="0"/>
          <a:ext cx="0" cy="0"/>
          <a:chOff x="0" y="0"/>
          <a:chExt cx="0" cy="0"/>
        </a:xfrm>
      </p:grpSpPr>
      <p:sp>
        <p:nvSpPr>
          <p:cNvPr id="3" name="Text 0"/>
          <p:cNvSpPr/>
          <p:nvPr/>
        </p:nvSpPr>
        <p:spPr>
          <a:xfrm>
            <a:off x="548640" y="384048"/>
            <a:ext cx="8229600" cy="320040"/>
          </a:xfrm>
          <a:prstGeom prst="rect">
            <a:avLst/>
          </a:prstGeom>
          <a:noFill/>
          <a:ln/>
        </p:spPr>
        <p:txBody>
          <a:bodyPr wrap="square" rtlCol="0" anchor="ctr"/>
          <a:lstStyle/>
          <a:p>
            <a:pPr indent="0" marL="0">
              <a:buNone/>
            </a:pPr>
            <a:r>
              <a:rPr lang="en-US" sz="1200" b="1" spc="300" kern="0" dirty="0">
                <a:solidFill>
                  <a:srgbClr val="22D3EE"/>
                </a:solidFill>
                <a:latin typeface="Segoe UI" pitchFamily="34" charset="0"/>
                <a:ea typeface="Segoe UI" pitchFamily="34" charset="-122"/>
                <a:cs typeface="Segoe UI" pitchFamily="34" charset="-120"/>
              </a:rPr>
              <a:t>PROPOSITION DE PARTENARIAT</a:t>
            </a:r>
            <a:endParaRPr lang="en-US" sz="1200" dirty="0"/>
          </a:p>
        </p:txBody>
      </p:sp>
      <p:sp>
        <p:nvSpPr>
          <p:cNvPr id="4" name="Text 1"/>
          <p:cNvSpPr/>
          <p:nvPr/>
        </p:nvSpPr>
        <p:spPr>
          <a:xfrm>
            <a:off x="548640" y="68580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Pour les universités et écoles professionnelles</a:t>
            </a:r>
            <a:endParaRPr lang="en-US" sz="3000" dirty="0"/>
          </a:p>
        </p:txBody>
      </p:sp>
      <p:sp>
        <p:nvSpPr>
          <p:cNvPr id="5" name="Shape 2"/>
          <p:cNvSpPr/>
          <p:nvPr/>
        </p:nvSpPr>
        <p:spPr>
          <a:xfrm>
            <a:off x="548640" y="173736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6" name="Shape 3"/>
          <p:cNvSpPr/>
          <p:nvPr/>
        </p:nvSpPr>
        <p:spPr>
          <a:xfrm>
            <a:off x="548640" y="1901952"/>
            <a:ext cx="64008" cy="1682496"/>
          </a:xfrm>
          <a:prstGeom prst="rect">
            <a:avLst/>
          </a:prstGeom>
          <a:solidFill>
            <a:srgbClr val="22D3EE"/>
          </a:solidFill>
          <a:ln w="12700">
            <a:solidFill>
              <a:srgbClr val="22D3EE"/>
            </a:solidFill>
            <a:prstDash val="solid"/>
          </a:ln>
        </p:spPr>
      </p:sp>
      <p:sp>
        <p:nvSpPr>
          <p:cNvPr id="7" name="Text 4"/>
          <p:cNvSpPr/>
          <p:nvPr/>
        </p:nvSpPr>
        <p:spPr>
          <a:xfrm>
            <a:off x="822960" y="192024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Travaux pratiques</a:t>
            </a:r>
            <a:endParaRPr lang="en-US" sz="2000" dirty="0"/>
          </a:p>
        </p:txBody>
      </p:sp>
      <p:sp>
        <p:nvSpPr>
          <p:cNvPr id="8" name="Text 5"/>
          <p:cNvSpPr/>
          <p:nvPr/>
        </p:nvSpPr>
        <p:spPr>
          <a:xfrm>
            <a:off x="822960" y="246888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Séance sur un compte de démonstration : métré et devis, suivi de chantier, rapports.</a:t>
            </a:r>
            <a:endParaRPr lang="en-US" sz="1600" dirty="0"/>
          </a:p>
        </p:txBody>
      </p:sp>
      <p:sp>
        <p:nvSpPr>
          <p:cNvPr id="9" name="Shape 6"/>
          <p:cNvSpPr/>
          <p:nvPr/>
        </p:nvSpPr>
        <p:spPr>
          <a:xfrm>
            <a:off x="6172200" y="173736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10" name="Shape 7"/>
          <p:cNvSpPr/>
          <p:nvPr/>
        </p:nvSpPr>
        <p:spPr>
          <a:xfrm>
            <a:off x="6172200" y="1901952"/>
            <a:ext cx="64008" cy="1682496"/>
          </a:xfrm>
          <a:prstGeom prst="rect">
            <a:avLst/>
          </a:prstGeom>
          <a:solidFill>
            <a:srgbClr val="22D3EE"/>
          </a:solidFill>
          <a:ln w="12700">
            <a:solidFill>
              <a:srgbClr val="22D3EE"/>
            </a:solidFill>
            <a:prstDash val="solid"/>
          </a:ln>
        </p:spPr>
      </p:sp>
      <p:sp>
        <p:nvSpPr>
          <p:cNvPr id="11" name="Text 8"/>
          <p:cNvSpPr/>
          <p:nvPr/>
        </p:nvSpPr>
        <p:spPr>
          <a:xfrm>
            <a:off x="6446520" y="192024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Ambassadeurs étudiants</a:t>
            </a:r>
            <a:endParaRPr lang="en-US" sz="2000" dirty="0"/>
          </a:p>
        </p:txBody>
      </p:sp>
      <p:sp>
        <p:nvSpPr>
          <p:cNvPr id="12" name="Text 9"/>
          <p:cNvSpPr/>
          <p:nvPr/>
        </p:nvSpPr>
        <p:spPr>
          <a:xfrm>
            <a:off x="6446520" y="246888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Des étudiants formés qui présentent l’outil dans leur réseau et leurs stages.</a:t>
            </a:r>
            <a:endParaRPr lang="en-US" sz="1600" dirty="0"/>
          </a:p>
        </p:txBody>
      </p:sp>
      <p:sp>
        <p:nvSpPr>
          <p:cNvPr id="13" name="Shape 10"/>
          <p:cNvSpPr/>
          <p:nvPr/>
        </p:nvSpPr>
        <p:spPr>
          <a:xfrm>
            <a:off x="548640" y="397764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14" name="Shape 11"/>
          <p:cNvSpPr/>
          <p:nvPr/>
        </p:nvSpPr>
        <p:spPr>
          <a:xfrm>
            <a:off x="548640" y="4142232"/>
            <a:ext cx="64008" cy="1682496"/>
          </a:xfrm>
          <a:prstGeom prst="rect">
            <a:avLst/>
          </a:prstGeom>
          <a:solidFill>
            <a:srgbClr val="22D3EE"/>
          </a:solidFill>
          <a:ln w="12700">
            <a:solidFill>
              <a:srgbClr val="22D3EE"/>
            </a:solidFill>
            <a:prstDash val="solid"/>
          </a:ln>
        </p:spPr>
      </p:sp>
      <p:sp>
        <p:nvSpPr>
          <p:cNvPr id="15" name="Text 12"/>
          <p:cNvSpPr/>
          <p:nvPr/>
        </p:nvSpPr>
        <p:spPr>
          <a:xfrm>
            <a:off x="822960" y="416052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Cas d’étude réels</a:t>
            </a:r>
            <a:endParaRPr lang="en-US" sz="2000" dirty="0"/>
          </a:p>
        </p:txBody>
      </p:sp>
      <p:sp>
        <p:nvSpPr>
          <p:cNvPr id="16" name="Text 13"/>
          <p:cNvSpPr/>
          <p:nvPr/>
        </p:nvSpPr>
        <p:spPr>
          <a:xfrm>
            <a:off x="822960" y="470916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Des jeux de données de démonstration pour les cours de gestion de projet.</a:t>
            </a:r>
            <a:endParaRPr lang="en-US" sz="1600" dirty="0"/>
          </a:p>
        </p:txBody>
      </p:sp>
      <p:sp>
        <p:nvSpPr>
          <p:cNvPr id="17" name="Shape 14"/>
          <p:cNvSpPr/>
          <p:nvPr/>
        </p:nvSpPr>
        <p:spPr>
          <a:xfrm>
            <a:off x="6172200" y="3977640"/>
            <a:ext cx="5440680" cy="2011680"/>
          </a:xfrm>
          <a:prstGeom prst="roundRect">
            <a:avLst>
              <a:gd name="adj" fmla="val 5455"/>
            </a:avLst>
          </a:prstGeom>
          <a:solidFill>
            <a:srgbClr val="FFFFFF">
              <a:alpha val="7000"/>
            </a:srgbClr>
          </a:solidFill>
          <a:ln w="12700">
            <a:solidFill>
              <a:srgbClr val="FFFFFF">
                <a:alpha val="20000"/>
              </a:srgbClr>
            </a:solidFill>
            <a:prstDash val="solid"/>
          </a:ln>
        </p:spPr>
      </p:sp>
      <p:sp>
        <p:nvSpPr>
          <p:cNvPr id="18" name="Shape 15"/>
          <p:cNvSpPr/>
          <p:nvPr/>
        </p:nvSpPr>
        <p:spPr>
          <a:xfrm>
            <a:off x="6172200" y="4142232"/>
            <a:ext cx="64008" cy="1682496"/>
          </a:xfrm>
          <a:prstGeom prst="rect">
            <a:avLst/>
          </a:prstGeom>
          <a:solidFill>
            <a:srgbClr val="22D3EE"/>
          </a:solidFill>
          <a:ln w="12700">
            <a:solidFill>
              <a:srgbClr val="22D3EE"/>
            </a:solidFill>
            <a:prstDash val="solid"/>
          </a:ln>
        </p:spPr>
      </p:sp>
      <p:sp>
        <p:nvSpPr>
          <p:cNvPr id="19" name="Text 16"/>
          <p:cNvSpPr/>
          <p:nvPr/>
        </p:nvSpPr>
        <p:spPr>
          <a:xfrm>
            <a:off x="6446520" y="4160520"/>
            <a:ext cx="4983480" cy="502920"/>
          </a:xfrm>
          <a:prstGeom prst="rect">
            <a:avLst/>
          </a:prstGeom>
          <a:noFill/>
          <a:ln/>
        </p:spPr>
        <p:txBody>
          <a:bodyPr wrap="square" rtlCol="0" anchor="t"/>
          <a:lstStyle/>
          <a:p>
            <a:pPr indent="0" marL="0">
              <a:buNone/>
            </a:pPr>
            <a:r>
              <a:rPr lang="en-US" sz="2000" b="1" dirty="0">
                <a:solidFill>
                  <a:srgbClr val="FFFFFF"/>
                </a:solidFill>
                <a:latin typeface="Segoe UI" pitchFamily="34" charset="0"/>
                <a:ea typeface="Segoe UI" pitchFamily="34" charset="-122"/>
                <a:cs typeface="Segoe UI" pitchFamily="34" charset="-120"/>
              </a:rPr>
              <a:t>Liens avec les entreprises</a:t>
            </a:r>
            <a:endParaRPr lang="en-US" sz="2000" dirty="0"/>
          </a:p>
        </p:txBody>
      </p:sp>
      <p:sp>
        <p:nvSpPr>
          <p:cNvPr id="20" name="Text 17"/>
          <p:cNvSpPr/>
          <p:nvPr/>
        </p:nvSpPr>
        <p:spPr>
          <a:xfrm>
            <a:off x="6446520" y="4709160"/>
            <a:ext cx="4983480" cy="1143000"/>
          </a:xfrm>
          <a:prstGeom prst="rect">
            <a:avLst/>
          </a:prstGeom>
          <a:noFill/>
          <a:ln/>
        </p:spPr>
        <p:txBody>
          <a:bodyPr wrap="square"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Mise en relation avec les entreprises utilisatrices, à discuter ensemble.</a:t>
            </a:r>
            <a:endParaRPr lang="en-US" sz="1600" dirty="0"/>
          </a:p>
        </p:txBody>
      </p:sp>
      <p:sp>
        <p:nvSpPr>
          <p:cNvPr id="21" name="Text 18"/>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22" name="Shape 19"/>
          <p:cNvSpPr/>
          <p:nvPr/>
        </p:nvSpPr>
        <p:spPr>
          <a:xfrm>
            <a:off x="0" y="6784848"/>
            <a:ext cx="12191695" cy="73152"/>
          </a:xfrm>
          <a:prstGeom prst="rect">
            <a:avLst/>
          </a:prstGeom>
          <a:solidFill>
            <a:srgbClr val="22D3EE"/>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92F"/>
        </a:solidFill>
      </p:bgPr>
    </p:bg>
    <p:spTree>
      <p:nvGrpSpPr>
        <p:cNvPr id="1" name=""/>
        <p:cNvGrpSpPr/>
        <p:nvPr/>
      </p:nvGrpSpPr>
      <p:grpSpPr>
        <a:xfrm>
          <a:off x="0" y="0"/>
          <a:ext cx="0" cy="0"/>
          <a:chOff x="0" y="0"/>
          <a:chExt cx="0" cy="0"/>
        </a:xfrm>
      </p:grpSpPr>
      <p:sp>
        <p:nvSpPr>
          <p:cNvPr id="3" name="Text 0"/>
          <p:cNvSpPr/>
          <p:nvPr/>
        </p:nvSpPr>
        <p:spPr>
          <a:xfrm>
            <a:off x="548640" y="384048"/>
            <a:ext cx="8229600" cy="320040"/>
          </a:xfrm>
          <a:prstGeom prst="rect">
            <a:avLst/>
          </a:prstGeom>
          <a:noFill/>
          <a:ln/>
        </p:spPr>
        <p:txBody>
          <a:bodyPr wrap="square" rtlCol="0" anchor="ctr"/>
          <a:lstStyle/>
          <a:p>
            <a:pPr indent="0" marL="0">
              <a:buNone/>
            </a:pPr>
            <a:r>
              <a:rPr lang="en-US" sz="1200" b="1" spc="300" kern="0" dirty="0">
                <a:solidFill>
                  <a:srgbClr val="22D3EE"/>
                </a:solidFill>
                <a:latin typeface="Segoe UI" pitchFamily="34" charset="0"/>
                <a:ea typeface="Segoe UI" pitchFamily="34" charset="-122"/>
                <a:cs typeface="Segoe UI" pitchFamily="34" charset="-120"/>
              </a:rPr>
              <a:t>PROGRAMME PILOTE</a:t>
            </a:r>
            <a:endParaRPr lang="en-US" sz="1200" dirty="0"/>
          </a:p>
        </p:txBody>
      </p:sp>
      <p:sp>
        <p:nvSpPr>
          <p:cNvPr id="4" name="Text 1"/>
          <p:cNvSpPr/>
          <p:nvPr/>
        </p:nvSpPr>
        <p:spPr>
          <a:xfrm>
            <a:off x="548640" y="68580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30 jours pour passer au numérique, accompagné</a:t>
            </a:r>
            <a:endParaRPr lang="en-US" sz="3000" dirty="0"/>
          </a:p>
        </p:txBody>
      </p:sp>
      <p:sp>
        <p:nvSpPr>
          <p:cNvPr id="5" name="Shape 2"/>
          <p:cNvSpPr/>
          <p:nvPr/>
        </p:nvSpPr>
        <p:spPr>
          <a:xfrm>
            <a:off x="548640" y="1828800"/>
            <a:ext cx="2651760" cy="3291840"/>
          </a:xfrm>
          <a:prstGeom prst="roundRect">
            <a:avLst>
              <a:gd name="adj" fmla="val 4138"/>
            </a:avLst>
          </a:prstGeom>
          <a:solidFill>
            <a:srgbClr val="FFFFFF">
              <a:alpha val="7000"/>
            </a:srgbClr>
          </a:solidFill>
          <a:ln w="12700">
            <a:solidFill>
              <a:srgbClr val="FFFFFF">
                <a:alpha val="20000"/>
              </a:srgbClr>
            </a:solidFill>
            <a:prstDash val="solid"/>
          </a:ln>
        </p:spPr>
      </p:sp>
      <p:sp>
        <p:nvSpPr>
          <p:cNvPr id="6" name="Shape 3"/>
          <p:cNvSpPr/>
          <p:nvPr/>
        </p:nvSpPr>
        <p:spPr>
          <a:xfrm>
            <a:off x="777240" y="2057400"/>
            <a:ext cx="685800" cy="685800"/>
          </a:xfrm>
          <a:prstGeom prst="ellipse">
            <a:avLst/>
          </a:prstGeom>
          <a:solidFill>
            <a:srgbClr val="22D3EE"/>
          </a:solidFill>
          <a:ln w="12700">
            <a:solidFill>
              <a:srgbClr val="22D3EE"/>
            </a:solidFill>
            <a:prstDash val="solid"/>
          </a:ln>
        </p:spPr>
      </p:sp>
      <p:sp>
        <p:nvSpPr>
          <p:cNvPr id="7" name="Text 4"/>
          <p:cNvSpPr/>
          <p:nvPr/>
        </p:nvSpPr>
        <p:spPr>
          <a:xfrm>
            <a:off x="777240" y="2057400"/>
            <a:ext cx="685800" cy="685800"/>
          </a:xfrm>
          <a:prstGeom prst="rect">
            <a:avLst/>
          </a:prstGeom>
          <a:noFill/>
          <a:ln/>
        </p:spPr>
        <p:txBody>
          <a:bodyPr wrap="square" rtlCol="0" anchor="ctr"/>
          <a:lstStyle/>
          <a:p>
            <a:pPr algn="ctr" indent="0" marL="0">
              <a:buNone/>
            </a:pPr>
            <a:r>
              <a:rPr lang="en-US" sz="2200" b="1" dirty="0">
                <a:solidFill>
                  <a:srgbClr val="0A192F"/>
                </a:solidFill>
                <a:latin typeface="Segoe UI" pitchFamily="34" charset="0"/>
                <a:ea typeface="Segoe UI" pitchFamily="34" charset="-122"/>
                <a:cs typeface="Segoe UI" pitchFamily="34" charset="-120"/>
              </a:rPr>
              <a:t>1</a:t>
            </a:r>
            <a:endParaRPr lang="en-US" sz="2200" dirty="0"/>
          </a:p>
        </p:txBody>
      </p:sp>
      <p:sp>
        <p:nvSpPr>
          <p:cNvPr id="8" name="Text 5"/>
          <p:cNvSpPr/>
          <p:nvPr/>
        </p:nvSpPr>
        <p:spPr>
          <a:xfrm>
            <a:off x="777240" y="2880360"/>
            <a:ext cx="2286000" cy="274320"/>
          </a:xfrm>
          <a:prstGeom prst="rect">
            <a:avLst/>
          </a:prstGeom>
          <a:noFill/>
          <a:ln/>
        </p:spPr>
        <p:txBody>
          <a:bodyPr wrap="square" rtlCol="0" anchor="ctr"/>
          <a:lstStyle/>
          <a:p>
            <a:pPr indent="0" marL="0">
              <a:buNone/>
            </a:pPr>
            <a:r>
              <a:rPr lang="en-US" sz="1100" b="1" spc="200" kern="0" dirty="0">
                <a:solidFill>
                  <a:srgbClr val="22D3EE"/>
                </a:solidFill>
                <a:latin typeface="Segoe UI" pitchFamily="34" charset="0"/>
                <a:ea typeface="Segoe UI" pitchFamily="34" charset="-122"/>
                <a:cs typeface="Segoe UI" pitchFamily="34" charset="-120"/>
              </a:rPr>
              <a:t>SEMAINE 1</a:t>
            </a:r>
            <a:endParaRPr lang="en-US" sz="1100" dirty="0"/>
          </a:p>
        </p:txBody>
      </p:sp>
      <p:sp>
        <p:nvSpPr>
          <p:cNvPr id="9" name="Text 6"/>
          <p:cNvSpPr/>
          <p:nvPr/>
        </p:nvSpPr>
        <p:spPr>
          <a:xfrm>
            <a:off x="777240" y="3154680"/>
            <a:ext cx="228600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Installation</a:t>
            </a:r>
            <a:endParaRPr lang="en-US" sz="1800" dirty="0"/>
          </a:p>
        </p:txBody>
      </p:sp>
      <p:sp>
        <p:nvSpPr>
          <p:cNvPr id="10" name="Text 7"/>
          <p:cNvSpPr/>
          <p:nvPr/>
        </p:nvSpPr>
        <p:spPr>
          <a:xfrm>
            <a:off x="777240" y="3611880"/>
            <a:ext cx="2286000" cy="1417320"/>
          </a:xfrm>
          <a:prstGeom prst="rect">
            <a:avLst/>
          </a:prstGeom>
          <a:noFill/>
          <a:ln/>
        </p:spPr>
        <p:txBody>
          <a:bodyPr wrap="square" rtlCol="0" anchor="t"/>
          <a:lstStyle/>
          <a:p>
            <a:pPr indent="0" marL="0">
              <a:buNone/>
            </a:pPr>
            <a:r>
              <a:rPr lang="en-US" sz="1250" dirty="0">
                <a:solidFill>
                  <a:srgbClr val="CBD5E1"/>
                </a:solidFill>
                <a:latin typeface="Segoe UI" pitchFamily="34" charset="0"/>
                <a:ea typeface="Segoe UI" pitchFamily="34" charset="-122"/>
                <a:cs typeface="Segoe UI" pitchFamily="34" charset="-120"/>
              </a:rPr>
              <a:t>Nous créons votre espace, importons vos listes existantes et ouvrons les comptes de votre équipe.</a:t>
            </a:r>
            <a:endParaRPr lang="en-US" sz="1250" dirty="0"/>
          </a:p>
        </p:txBody>
      </p:sp>
      <p:sp>
        <p:nvSpPr>
          <p:cNvPr id="11" name="Shape 8"/>
          <p:cNvSpPr/>
          <p:nvPr/>
        </p:nvSpPr>
        <p:spPr>
          <a:xfrm>
            <a:off x="3383280" y="1828800"/>
            <a:ext cx="2651760" cy="3291840"/>
          </a:xfrm>
          <a:prstGeom prst="roundRect">
            <a:avLst>
              <a:gd name="adj" fmla="val 4138"/>
            </a:avLst>
          </a:prstGeom>
          <a:solidFill>
            <a:srgbClr val="FFFFFF">
              <a:alpha val="7000"/>
            </a:srgbClr>
          </a:solidFill>
          <a:ln w="12700">
            <a:solidFill>
              <a:srgbClr val="FFFFFF">
                <a:alpha val="20000"/>
              </a:srgbClr>
            </a:solidFill>
            <a:prstDash val="solid"/>
          </a:ln>
        </p:spPr>
      </p:sp>
      <p:sp>
        <p:nvSpPr>
          <p:cNvPr id="12" name="Shape 9"/>
          <p:cNvSpPr/>
          <p:nvPr/>
        </p:nvSpPr>
        <p:spPr>
          <a:xfrm>
            <a:off x="3611880" y="2057400"/>
            <a:ext cx="685800" cy="685800"/>
          </a:xfrm>
          <a:prstGeom prst="ellipse">
            <a:avLst/>
          </a:prstGeom>
          <a:solidFill>
            <a:srgbClr val="22D3EE"/>
          </a:solidFill>
          <a:ln w="12700">
            <a:solidFill>
              <a:srgbClr val="22D3EE"/>
            </a:solidFill>
            <a:prstDash val="solid"/>
          </a:ln>
        </p:spPr>
      </p:sp>
      <p:sp>
        <p:nvSpPr>
          <p:cNvPr id="13" name="Text 10"/>
          <p:cNvSpPr/>
          <p:nvPr/>
        </p:nvSpPr>
        <p:spPr>
          <a:xfrm>
            <a:off x="3611880" y="2057400"/>
            <a:ext cx="685800" cy="685800"/>
          </a:xfrm>
          <a:prstGeom prst="rect">
            <a:avLst/>
          </a:prstGeom>
          <a:noFill/>
          <a:ln/>
        </p:spPr>
        <p:txBody>
          <a:bodyPr wrap="square" rtlCol="0" anchor="ctr"/>
          <a:lstStyle/>
          <a:p>
            <a:pPr algn="ctr" indent="0" marL="0">
              <a:buNone/>
            </a:pPr>
            <a:r>
              <a:rPr lang="en-US" sz="2200" b="1" dirty="0">
                <a:solidFill>
                  <a:srgbClr val="0A192F"/>
                </a:solidFill>
                <a:latin typeface="Segoe UI" pitchFamily="34" charset="0"/>
                <a:ea typeface="Segoe UI" pitchFamily="34" charset="-122"/>
                <a:cs typeface="Segoe UI" pitchFamily="34" charset="-120"/>
              </a:rPr>
              <a:t>2</a:t>
            </a:r>
            <a:endParaRPr lang="en-US" sz="2200" dirty="0"/>
          </a:p>
        </p:txBody>
      </p:sp>
      <p:sp>
        <p:nvSpPr>
          <p:cNvPr id="14" name="Text 11"/>
          <p:cNvSpPr/>
          <p:nvPr/>
        </p:nvSpPr>
        <p:spPr>
          <a:xfrm>
            <a:off x="3611880" y="2880360"/>
            <a:ext cx="2286000" cy="274320"/>
          </a:xfrm>
          <a:prstGeom prst="rect">
            <a:avLst/>
          </a:prstGeom>
          <a:noFill/>
          <a:ln/>
        </p:spPr>
        <p:txBody>
          <a:bodyPr wrap="square" rtlCol="0" anchor="ctr"/>
          <a:lstStyle/>
          <a:p>
            <a:pPr indent="0" marL="0">
              <a:buNone/>
            </a:pPr>
            <a:r>
              <a:rPr lang="en-US" sz="1100" b="1" spc="200" kern="0" dirty="0">
                <a:solidFill>
                  <a:srgbClr val="22D3EE"/>
                </a:solidFill>
                <a:latin typeface="Segoe UI" pitchFamily="34" charset="0"/>
                <a:ea typeface="Segoe UI" pitchFamily="34" charset="-122"/>
                <a:cs typeface="Segoe UI" pitchFamily="34" charset="-120"/>
              </a:rPr>
              <a:t>SEMAINE 2</a:t>
            </a:r>
            <a:endParaRPr lang="en-US" sz="1100" dirty="0"/>
          </a:p>
        </p:txBody>
      </p:sp>
      <p:sp>
        <p:nvSpPr>
          <p:cNvPr id="15" name="Text 12"/>
          <p:cNvSpPr/>
          <p:nvPr/>
        </p:nvSpPr>
        <p:spPr>
          <a:xfrm>
            <a:off x="3611880" y="3154680"/>
            <a:ext cx="228600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Formation</a:t>
            </a:r>
            <a:endParaRPr lang="en-US" sz="1800" dirty="0"/>
          </a:p>
        </p:txBody>
      </p:sp>
      <p:sp>
        <p:nvSpPr>
          <p:cNvPr id="16" name="Text 13"/>
          <p:cNvSpPr/>
          <p:nvPr/>
        </p:nvSpPr>
        <p:spPr>
          <a:xfrm>
            <a:off x="3611880" y="3611880"/>
            <a:ext cx="2286000" cy="1417320"/>
          </a:xfrm>
          <a:prstGeom prst="rect">
            <a:avLst/>
          </a:prstGeom>
          <a:noFill/>
          <a:ln/>
        </p:spPr>
        <p:txBody>
          <a:bodyPr wrap="square" rtlCol="0" anchor="t"/>
          <a:lstStyle/>
          <a:p>
            <a:pPr indent="0" marL="0">
              <a:buNone/>
            </a:pPr>
            <a:r>
              <a:rPr lang="en-US" sz="1250" dirty="0">
                <a:solidFill>
                  <a:srgbClr val="CBD5E1"/>
                </a:solidFill>
                <a:latin typeface="Segoe UI" pitchFamily="34" charset="0"/>
                <a:ea typeface="Segoe UI" pitchFamily="34" charset="-122"/>
                <a:cs typeface="Segoe UI" pitchFamily="34" charset="-120"/>
              </a:rPr>
              <a:t>Une heure par rôle, sur place ou en visio. Votre équipe enregistre ses premières données réelles.</a:t>
            </a:r>
            <a:endParaRPr lang="en-US" sz="1250" dirty="0"/>
          </a:p>
        </p:txBody>
      </p:sp>
      <p:sp>
        <p:nvSpPr>
          <p:cNvPr id="17" name="Shape 14"/>
          <p:cNvSpPr/>
          <p:nvPr/>
        </p:nvSpPr>
        <p:spPr>
          <a:xfrm>
            <a:off x="6217920" y="1828800"/>
            <a:ext cx="2651760" cy="3291840"/>
          </a:xfrm>
          <a:prstGeom prst="roundRect">
            <a:avLst>
              <a:gd name="adj" fmla="val 4138"/>
            </a:avLst>
          </a:prstGeom>
          <a:solidFill>
            <a:srgbClr val="FFFFFF">
              <a:alpha val="7000"/>
            </a:srgbClr>
          </a:solidFill>
          <a:ln w="12700">
            <a:solidFill>
              <a:srgbClr val="FFFFFF">
                <a:alpha val="20000"/>
              </a:srgbClr>
            </a:solidFill>
            <a:prstDash val="solid"/>
          </a:ln>
        </p:spPr>
      </p:sp>
      <p:sp>
        <p:nvSpPr>
          <p:cNvPr id="18" name="Shape 15"/>
          <p:cNvSpPr/>
          <p:nvPr/>
        </p:nvSpPr>
        <p:spPr>
          <a:xfrm>
            <a:off x="6446520" y="2057400"/>
            <a:ext cx="685800" cy="685800"/>
          </a:xfrm>
          <a:prstGeom prst="ellipse">
            <a:avLst/>
          </a:prstGeom>
          <a:solidFill>
            <a:srgbClr val="22D3EE"/>
          </a:solidFill>
          <a:ln w="12700">
            <a:solidFill>
              <a:srgbClr val="22D3EE"/>
            </a:solidFill>
            <a:prstDash val="solid"/>
          </a:ln>
        </p:spPr>
      </p:sp>
      <p:sp>
        <p:nvSpPr>
          <p:cNvPr id="19" name="Text 16"/>
          <p:cNvSpPr/>
          <p:nvPr/>
        </p:nvSpPr>
        <p:spPr>
          <a:xfrm>
            <a:off x="6446520" y="2057400"/>
            <a:ext cx="685800" cy="685800"/>
          </a:xfrm>
          <a:prstGeom prst="rect">
            <a:avLst/>
          </a:prstGeom>
          <a:noFill/>
          <a:ln/>
        </p:spPr>
        <p:txBody>
          <a:bodyPr wrap="square" rtlCol="0" anchor="ctr"/>
          <a:lstStyle/>
          <a:p>
            <a:pPr algn="ctr" indent="0" marL="0">
              <a:buNone/>
            </a:pPr>
            <a:r>
              <a:rPr lang="en-US" sz="2200" b="1" dirty="0">
                <a:solidFill>
                  <a:srgbClr val="0A192F"/>
                </a:solidFill>
                <a:latin typeface="Segoe UI" pitchFamily="34" charset="0"/>
                <a:ea typeface="Segoe UI" pitchFamily="34" charset="-122"/>
                <a:cs typeface="Segoe UI" pitchFamily="34" charset="-120"/>
              </a:rPr>
              <a:t>3</a:t>
            </a:r>
            <a:endParaRPr lang="en-US" sz="2200" dirty="0"/>
          </a:p>
        </p:txBody>
      </p:sp>
      <p:sp>
        <p:nvSpPr>
          <p:cNvPr id="20" name="Text 17"/>
          <p:cNvSpPr/>
          <p:nvPr/>
        </p:nvSpPr>
        <p:spPr>
          <a:xfrm>
            <a:off x="6446520" y="2880360"/>
            <a:ext cx="2286000" cy="274320"/>
          </a:xfrm>
          <a:prstGeom prst="rect">
            <a:avLst/>
          </a:prstGeom>
          <a:noFill/>
          <a:ln/>
        </p:spPr>
        <p:txBody>
          <a:bodyPr wrap="square" rtlCol="0" anchor="ctr"/>
          <a:lstStyle/>
          <a:p>
            <a:pPr indent="0" marL="0">
              <a:buNone/>
            </a:pPr>
            <a:r>
              <a:rPr lang="en-US" sz="1100" b="1" spc="200" kern="0" dirty="0">
                <a:solidFill>
                  <a:srgbClr val="22D3EE"/>
                </a:solidFill>
                <a:latin typeface="Segoe UI" pitchFamily="34" charset="0"/>
                <a:ea typeface="Segoe UI" pitchFamily="34" charset="-122"/>
                <a:cs typeface="Segoe UI" pitchFamily="34" charset="-120"/>
              </a:rPr>
              <a:t>SEMAINE 3</a:t>
            </a:r>
            <a:endParaRPr lang="en-US" sz="1100" dirty="0"/>
          </a:p>
        </p:txBody>
      </p:sp>
      <p:sp>
        <p:nvSpPr>
          <p:cNvPr id="21" name="Text 18"/>
          <p:cNvSpPr/>
          <p:nvPr/>
        </p:nvSpPr>
        <p:spPr>
          <a:xfrm>
            <a:off x="6446520" y="3154680"/>
            <a:ext cx="228600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Premier document</a:t>
            </a:r>
            <a:endParaRPr lang="en-US" sz="1800" dirty="0"/>
          </a:p>
        </p:txBody>
      </p:sp>
      <p:sp>
        <p:nvSpPr>
          <p:cNvPr id="22" name="Text 19"/>
          <p:cNvSpPr/>
          <p:nvPr/>
        </p:nvSpPr>
        <p:spPr>
          <a:xfrm>
            <a:off x="6446520" y="3611880"/>
            <a:ext cx="2286000" cy="1417320"/>
          </a:xfrm>
          <a:prstGeom prst="rect">
            <a:avLst/>
          </a:prstGeom>
          <a:noFill/>
          <a:ln/>
        </p:spPr>
        <p:txBody>
          <a:bodyPr wrap="square" rtlCol="0" anchor="t"/>
          <a:lstStyle/>
          <a:p>
            <a:pPr indent="0" marL="0">
              <a:buNone/>
            </a:pPr>
            <a:r>
              <a:rPr lang="en-US" sz="1250" dirty="0">
                <a:solidFill>
                  <a:srgbClr val="CBD5E1"/>
                </a:solidFill>
                <a:latin typeface="Segoe UI" pitchFamily="34" charset="0"/>
                <a:ea typeface="Segoe UI" pitchFamily="34" charset="-122"/>
                <a:cs typeface="Segoe UI" pitchFamily="34" charset="-120"/>
              </a:rPr>
              <a:t>Ensemble, nous produisons votre premier document officiel : rapport, devis, bulletins ou bilan.</a:t>
            </a:r>
            <a:endParaRPr lang="en-US" sz="1250" dirty="0"/>
          </a:p>
        </p:txBody>
      </p:sp>
      <p:sp>
        <p:nvSpPr>
          <p:cNvPr id="23" name="Shape 20"/>
          <p:cNvSpPr/>
          <p:nvPr/>
        </p:nvSpPr>
        <p:spPr>
          <a:xfrm>
            <a:off x="9052560" y="1828800"/>
            <a:ext cx="2651760" cy="3291840"/>
          </a:xfrm>
          <a:prstGeom prst="roundRect">
            <a:avLst>
              <a:gd name="adj" fmla="val 4138"/>
            </a:avLst>
          </a:prstGeom>
          <a:solidFill>
            <a:srgbClr val="FFFFFF">
              <a:alpha val="7000"/>
            </a:srgbClr>
          </a:solidFill>
          <a:ln w="12700">
            <a:solidFill>
              <a:srgbClr val="FFFFFF">
                <a:alpha val="20000"/>
              </a:srgbClr>
            </a:solidFill>
            <a:prstDash val="solid"/>
          </a:ln>
        </p:spPr>
      </p:sp>
      <p:sp>
        <p:nvSpPr>
          <p:cNvPr id="24" name="Shape 21"/>
          <p:cNvSpPr/>
          <p:nvPr/>
        </p:nvSpPr>
        <p:spPr>
          <a:xfrm>
            <a:off x="9281160" y="2057400"/>
            <a:ext cx="685800" cy="685800"/>
          </a:xfrm>
          <a:prstGeom prst="ellipse">
            <a:avLst/>
          </a:prstGeom>
          <a:solidFill>
            <a:srgbClr val="22D3EE"/>
          </a:solidFill>
          <a:ln w="12700">
            <a:solidFill>
              <a:srgbClr val="22D3EE"/>
            </a:solidFill>
            <a:prstDash val="solid"/>
          </a:ln>
        </p:spPr>
      </p:sp>
      <p:sp>
        <p:nvSpPr>
          <p:cNvPr id="25" name="Text 22"/>
          <p:cNvSpPr/>
          <p:nvPr/>
        </p:nvSpPr>
        <p:spPr>
          <a:xfrm>
            <a:off x="9281160" y="2057400"/>
            <a:ext cx="685800" cy="685800"/>
          </a:xfrm>
          <a:prstGeom prst="rect">
            <a:avLst/>
          </a:prstGeom>
          <a:noFill/>
          <a:ln/>
        </p:spPr>
        <p:txBody>
          <a:bodyPr wrap="square" rtlCol="0" anchor="ctr"/>
          <a:lstStyle/>
          <a:p>
            <a:pPr algn="ctr" indent="0" marL="0">
              <a:buNone/>
            </a:pPr>
            <a:r>
              <a:rPr lang="en-US" sz="2200" b="1" dirty="0">
                <a:solidFill>
                  <a:srgbClr val="0A192F"/>
                </a:solidFill>
                <a:latin typeface="Segoe UI" pitchFamily="34" charset="0"/>
                <a:ea typeface="Segoe UI" pitchFamily="34" charset="-122"/>
                <a:cs typeface="Segoe UI" pitchFamily="34" charset="-120"/>
              </a:rPr>
              <a:t>4</a:t>
            </a:r>
            <a:endParaRPr lang="en-US" sz="2200" dirty="0"/>
          </a:p>
        </p:txBody>
      </p:sp>
      <p:sp>
        <p:nvSpPr>
          <p:cNvPr id="26" name="Text 23"/>
          <p:cNvSpPr/>
          <p:nvPr/>
        </p:nvSpPr>
        <p:spPr>
          <a:xfrm>
            <a:off x="9281160" y="2880360"/>
            <a:ext cx="2286000" cy="274320"/>
          </a:xfrm>
          <a:prstGeom prst="rect">
            <a:avLst/>
          </a:prstGeom>
          <a:noFill/>
          <a:ln/>
        </p:spPr>
        <p:txBody>
          <a:bodyPr wrap="square" rtlCol="0" anchor="ctr"/>
          <a:lstStyle/>
          <a:p>
            <a:pPr indent="0" marL="0">
              <a:buNone/>
            </a:pPr>
            <a:r>
              <a:rPr lang="en-US" sz="1100" b="1" spc="200" kern="0" dirty="0">
                <a:solidFill>
                  <a:srgbClr val="22D3EE"/>
                </a:solidFill>
                <a:latin typeface="Segoe UI" pitchFamily="34" charset="0"/>
                <a:ea typeface="Segoe UI" pitchFamily="34" charset="-122"/>
                <a:cs typeface="Segoe UI" pitchFamily="34" charset="-120"/>
              </a:rPr>
              <a:t>SEMAINE 4</a:t>
            </a:r>
            <a:endParaRPr lang="en-US" sz="1100" dirty="0"/>
          </a:p>
        </p:txBody>
      </p:sp>
      <p:sp>
        <p:nvSpPr>
          <p:cNvPr id="27" name="Text 24"/>
          <p:cNvSpPr/>
          <p:nvPr/>
        </p:nvSpPr>
        <p:spPr>
          <a:xfrm>
            <a:off x="9281160" y="3154680"/>
            <a:ext cx="228600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Bilan</a:t>
            </a:r>
            <a:endParaRPr lang="en-US" sz="1800" dirty="0"/>
          </a:p>
        </p:txBody>
      </p:sp>
      <p:sp>
        <p:nvSpPr>
          <p:cNvPr id="28" name="Text 25"/>
          <p:cNvSpPr/>
          <p:nvPr/>
        </p:nvSpPr>
        <p:spPr>
          <a:xfrm>
            <a:off x="9281160" y="3611880"/>
            <a:ext cx="2286000" cy="1417320"/>
          </a:xfrm>
          <a:prstGeom prst="rect">
            <a:avLst/>
          </a:prstGeom>
          <a:noFill/>
          <a:ln/>
        </p:spPr>
        <p:txBody>
          <a:bodyPr wrap="square" rtlCol="0" anchor="t"/>
          <a:lstStyle/>
          <a:p>
            <a:pPr indent="0" marL="0">
              <a:buNone/>
            </a:pPr>
            <a:r>
              <a:rPr lang="en-US" sz="1250" dirty="0">
                <a:solidFill>
                  <a:srgbClr val="CBD5E1"/>
                </a:solidFill>
                <a:latin typeface="Segoe UI" pitchFamily="34" charset="0"/>
                <a:ea typeface="Segoe UI" pitchFamily="34" charset="-122"/>
                <a:cs typeface="Segoe UI" pitchFamily="34" charset="-120"/>
              </a:rPr>
              <a:t>Nous mesurons le temps gagné et ce qui reste à ajuster. Vous décidez de la suite, librement.</a:t>
            </a:r>
            <a:endParaRPr lang="en-US" sz="1250" dirty="0"/>
          </a:p>
        </p:txBody>
      </p:sp>
      <p:sp>
        <p:nvSpPr>
          <p:cNvPr id="29" name="Text 26"/>
          <p:cNvSpPr/>
          <p:nvPr/>
        </p:nvSpPr>
        <p:spPr>
          <a:xfrm>
            <a:off x="548640" y="5394960"/>
            <a:ext cx="11064240" cy="457200"/>
          </a:xfrm>
          <a:prstGeom prst="rect">
            <a:avLst/>
          </a:prstGeom>
          <a:noFill/>
          <a:ln/>
        </p:spPr>
        <p:txBody>
          <a:bodyPr wrap="square" rtlCol="0" anchor="ctr"/>
          <a:lstStyle/>
          <a:p>
            <a:pPr indent="0" marL="0">
              <a:buNone/>
            </a:pPr>
            <a:r>
              <a:rPr lang="en-US" sz="1500" b="1" dirty="0">
                <a:solidFill>
                  <a:srgbClr val="FACC15"/>
                </a:solidFill>
                <a:latin typeface="Segoe UI" pitchFamily="34" charset="0"/>
                <a:ea typeface="Segoe UI" pitchFamily="34" charset="-122"/>
                <a:cs typeface="Segoe UI" pitchFamily="34" charset="-120"/>
              </a:rPr>
              <a:t>En plus de la période gratuite : 12 mois gratuits pour les écoles, 6 mois gratuits pour les ONG, le BTP et les PME.</a:t>
            </a:r>
            <a:endParaRPr lang="en-US" sz="1500" dirty="0"/>
          </a:p>
        </p:txBody>
      </p:sp>
      <p:sp>
        <p:nvSpPr>
          <p:cNvPr id="30" name="Text 27"/>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31" name="Shape 28"/>
          <p:cNvSpPr/>
          <p:nvPr/>
        </p:nvSpPr>
        <p:spPr>
          <a:xfrm>
            <a:off x="0" y="6784848"/>
            <a:ext cx="12191695" cy="73152"/>
          </a:xfrm>
          <a:prstGeom prst="rect">
            <a:avLst/>
          </a:prstGeom>
          <a:solidFill>
            <a:srgbClr val="22D3EE"/>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92F"/>
        </a:solidFill>
      </p:bgPr>
    </p:bg>
    <p:spTree>
      <p:nvGrpSpPr>
        <p:cNvPr id="1" name=""/>
        <p:cNvGrpSpPr/>
        <p:nvPr/>
      </p:nvGrpSpPr>
      <p:grpSpPr>
        <a:xfrm>
          <a:off x="0" y="0"/>
          <a:ext cx="0" cy="0"/>
          <a:chOff x="0" y="0"/>
          <a:chExt cx="0" cy="0"/>
        </a:xfrm>
      </p:grpSpPr>
      <p:sp>
        <p:nvSpPr>
          <p:cNvPr id="3" name="Text 0"/>
          <p:cNvSpPr/>
          <p:nvPr/>
        </p:nvSpPr>
        <p:spPr>
          <a:xfrm>
            <a:off x="548640" y="384048"/>
            <a:ext cx="8229600" cy="320040"/>
          </a:xfrm>
          <a:prstGeom prst="rect">
            <a:avLst/>
          </a:prstGeom>
          <a:noFill/>
          <a:ln/>
        </p:spPr>
        <p:txBody>
          <a:bodyPr wrap="square" rtlCol="0" anchor="ctr"/>
          <a:lstStyle/>
          <a:p>
            <a:pPr indent="0" marL="0">
              <a:buNone/>
            </a:pPr>
            <a:r>
              <a:rPr lang="en-US" sz="1200" b="1" spc="300" kern="0" dirty="0">
                <a:solidFill>
                  <a:srgbClr val="22D3EE"/>
                </a:solidFill>
                <a:latin typeface="Segoe UI" pitchFamily="34" charset="0"/>
                <a:ea typeface="Segoe UI" pitchFamily="34" charset="-122"/>
                <a:cs typeface="Segoe UI" pitchFamily="34" charset="-120"/>
              </a:rPr>
              <a:t>OFFRE ET TARIFS</a:t>
            </a:r>
            <a:endParaRPr lang="en-US" sz="1200" dirty="0"/>
          </a:p>
        </p:txBody>
      </p:sp>
      <p:sp>
        <p:nvSpPr>
          <p:cNvPr id="4" name="Text 1"/>
          <p:cNvSpPr/>
          <p:nvPr/>
        </p:nvSpPr>
        <p:spPr>
          <a:xfrm>
            <a:off x="548640" y="68580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Démarrer sans risque</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840480"/>
                <a:gridCol w="3291840"/>
                <a:gridCol w="3931920"/>
              </a:tblGrid>
              <a:tr h="566928">
                <a:tc>
                  <a:txBody>
                    <a:bodyPr/>
                    <a:lstStyle/>
                    <a:p>
                      <a:pPr indent="0" marL="0">
                        <a:buNone/>
                      </a:pPr>
                      <a:r>
                        <a:rPr lang="en-US" sz="1600" b="1" dirty="0">
                          <a:solidFill>
                            <a:srgbClr val="FFFFFF"/>
                          </a:solidFill>
                          <a:latin typeface="Segoe UI" pitchFamily="34" charset="0"/>
                          <a:ea typeface="Segoe UI" pitchFamily="34" charset="-122"/>
                          <a:cs typeface="Segoe UI" pitchFamily="34" charset="-120"/>
                        </a:rPr>
                        <a:t>Secteur</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2305A"/>
                    </a:solidFill>
                  </a:tcPr>
                </a:tc>
                <a:tc>
                  <a:txBody>
                    <a:bodyPr/>
                    <a:lstStyle/>
                    <a:p>
                      <a:pPr indent="0" marL="0">
                        <a:buNone/>
                      </a:pPr>
                      <a:r>
                        <a:rPr lang="en-US" sz="1600" b="1" dirty="0">
                          <a:solidFill>
                            <a:srgbClr val="FFFFFF"/>
                          </a:solidFill>
                          <a:latin typeface="Segoe UI" pitchFamily="34" charset="0"/>
                          <a:ea typeface="Segoe UI" pitchFamily="34" charset="-122"/>
                          <a:cs typeface="Segoe UI" pitchFamily="34" charset="-120"/>
                        </a:rPr>
                        <a:t>Offre de lancement</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2305A"/>
                    </a:solidFill>
                  </a:tcPr>
                </a:tc>
                <a:tc>
                  <a:txBody>
                    <a:bodyPr/>
                    <a:lstStyle/>
                    <a:p>
                      <a:pPr indent="0" marL="0">
                        <a:buNone/>
                      </a:pPr>
                      <a:r>
                        <a:rPr lang="en-US" sz="1600" b="1" dirty="0">
                          <a:solidFill>
                            <a:srgbClr val="FFFFFF"/>
                          </a:solidFill>
                          <a:latin typeface="Segoe UI" pitchFamily="34" charset="0"/>
                          <a:ea typeface="Segoe UI" pitchFamily="34" charset="-122"/>
                          <a:cs typeface="Segoe UI" pitchFamily="34" charset="-120"/>
                        </a:rPr>
                        <a:t>Ensuite, abonnement mensuel</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2305A"/>
                    </a:solidFill>
                  </a:tcPr>
                </a:tc>
              </a:tr>
              <a:tr h="566928">
                <a:tc>
                  <a:txBody>
                    <a:bodyPr/>
                    <a:lstStyle/>
                    <a:p>
                      <a:pPr indent="0" marL="0">
                        <a:buNone/>
                      </a:pPr>
                      <a:r>
                        <a:rPr lang="en-US" sz="1600" dirty="0">
                          <a:solidFill>
                            <a:srgbClr val="FFFFFF"/>
                          </a:solidFill>
                          <a:latin typeface="Segoe UI" pitchFamily="34" charset="0"/>
                          <a:ea typeface="Segoe UI" pitchFamily="34" charset="-122"/>
                          <a:cs typeface="Segoe UI" pitchFamily="34" charset="-120"/>
                        </a:rPr>
                        <a:t>BTP &amp; chantiers</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442"/>
                    </a:solidFill>
                  </a:tcPr>
                </a:tc>
                <a:tc>
                  <a:txBody>
                    <a:bodyPr/>
                    <a:lstStyle/>
                    <a:p>
                      <a:pPr indent="0" marL="0">
                        <a:buNone/>
                      </a:pPr>
                      <a:r>
                        <a:rPr lang="en-US" sz="1600" b="1" dirty="0">
                          <a:solidFill>
                            <a:srgbClr val="4ADE80"/>
                          </a:solidFill>
                          <a:latin typeface="Segoe UI" pitchFamily="34" charset="0"/>
                          <a:ea typeface="Segoe UI" pitchFamily="34" charset="-122"/>
                          <a:cs typeface="Segoe UI" pitchFamily="34" charset="-120"/>
                        </a:rPr>
                        <a:t>6 mois gratuits</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442"/>
                    </a:solidFill>
                  </a:tcPr>
                </a:tc>
                <a:tc>
                  <a:txBody>
                    <a:bodyPr/>
                    <a:lstStyle/>
                    <a:p>
                      <a:pPr indent="0" marL="0">
                        <a:buNone/>
                      </a:pPr>
                      <a:r>
                        <a:rPr lang="en-US" sz="1600" dirty="0">
                          <a:solidFill>
                            <a:srgbClr val="CBD5E1"/>
                          </a:solidFill>
                          <a:latin typeface="Segoe UI" pitchFamily="34" charset="0"/>
                          <a:ea typeface="Segoe UI" pitchFamily="34" charset="-122"/>
                          <a:cs typeface="Segoe UI" pitchFamily="34" charset="-120"/>
                        </a:rPr>
                        <a:t>à partir de 200 000 GNF / mois</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442"/>
                    </a:solidFill>
                  </a:tcPr>
                </a:tc>
              </a:tr>
              <a:tr h="566928">
                <a:tc>
                  <a:txBody>
                    <a:bodyPr/>
                    <a:lstStyle/>
                    <a:p>
                      <a:pPr indent="0" marL="0">
                        <a:buNone/>
                      </a:pPr>
                      <a:r>
                        <a:rPr lang="en-US" sz="1600" dirty="0">
                          <a:solidFill>
                            <a:srgbClr val="FFFFFF"/>
                          </a:solidFill>
                          <a:latin typeface="Segoe UI" pitchFamily="34" charset="0"/>
                          <a:ea typeface="Segoe UI" pitchFamily="34" charset="-122"/>
                          <a:cs typeface="Segoe UI" pitchFamily="34" charset="-120"/>
                        </a:rPr>
                        <a:t>Établissements scolaires</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442"/>
                    </a:solidFill>
                  </a:tcPr>
                </a:tc>
                <a:tc>
                  <a:txBody>
                    <a:bodyPr/>
                    <a:lstStyle/>
                    <a:p>
                      <a:pPr indent="0" marL="0">
                        <a:buNone/>
                      </a:pPr>
                      <a:r>
                        <a:rPr lang="en-US" sz="1600" b="1" dirty="0">
                          <a:solidFill>
                            <a:srgbClr val="4ADE80"/>
                          </a:solidFill>
                          <a:latin typeface="Segoe UI" pitchFamily="34" charset="0"/>
                          <a:ea typeface="Segoe UI" pitchFamily="34" charset="-122"/>
                          <a:cs typeface="Segoe UI" pitchFamily="34" charset="-120"/>
                        </a:rPr>
                        <a:t>12 mois gratuits</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442"/>
                    </a:solidFill>
                  </a:tcPr>
                </a:tc>
                <a:tc>
                  <a:txBody>
                    <a:bodyPr/>
                    <a:lstStyle/>
                    <a:p>
                      <a:pPr indent="0" marL="0">
                        <a:buNone/>
                      </a:pPr>
                      <a:r>
                        <a:rPr lang="en-US" sz="1600" dirty="0">
                          <a:solidFill>
                            <a:srgbClr val="CBD5E1"/>
                          </a:solidFill>
                          <a:latin typeface="Segoe UI" pitchFamily="34" charset="0"/>
                          <a:ea typeface="Segoe UI" pitchFamily="34" charset="-122"/>
                          <a:cs typeface="Segoe UI" pitchFamily="34" charset="-120"/>
                        </a:rPr>
                        <a:t>à partir de 1 500 000 GNF / mois</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442"/>
                    </a:solidFill>
                  </a:tcPr>
                </a:tc>
              </a:tr>
              <a:tr h="566928">
                <a:tc>
                  <a:txBody>
                    <a:bodyPr/>
                    <a:lstStyle/>
                    <a:p>
                      <a:pPr indent="0" marL="0">
                        <a:buNone/>
                      </a:pPr>
                      <a:r>
                        <a:rPr lang="en-US" sz="1600" dirty="0">
                          <a:solidFill>
                            <a:srgbClr val="FFFFFF"/>
                          </a:solidFill>
                          <a:latin typeface="Segoe UI" pitchFamily="34" charset="0"/>
                          <a:ea typeface="Segoe UI" pitchFamily="34" charset="-122"/>
                          <a:cs typeface="Segoe UI" pitchFamily="34" charset="-120"/>
                        </a:rPr>
                        <a:t>ONG &amp; projets</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442"/>
                    </a:solidFill>
                  </a:tcPr>
                </a:tc>
                <a:tc>
                  <a:txBody>
                    <a:bodyPr/>
                    <a:lstStyle/>
                    <a:p>
                      <a:pPr indent="0" marL="0">
                        <a:buNone/>
                      </a:pPr>
                      <a:r>
                        <a:rPr lang="en-US" sz="1600" b="1" dirty="0">
                          <a:solidFill>
                            <a:srgbClr val="4ADE80"/>
                          </a:solidFill>
                          <a:latin typeface="Segoe UI" pitchFamily="34" charset="0"/>
                          <a:ea typeface="Segoe UI" pitchFamily="34" charset="-122"/>
                          <a:cs typeface="Segoe UI" pitchFamily="34" charset="-120"/>
                        </a:rPr>
                        <a:t>6 mois gratuits</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442"/>
                    </a:solidFill>
                  </a:tcPr>
                </a:tc>
                <a:tc>
                  <a:txBody>
                    <a:bodyPr/>
                    <a:lstStyle/>
                    <a:p>
                      <a:pPr indent="0" marL="0">
                        <a:buNone/>
                      </a:pPr>
                      <a:r>
                        <a:rPr lang="en-US" sz="1600" dirty="0">
                          <a:solidFill>
                            <a:srgbClr val="CBD5E1"/>
                          </a:solidFill>
                          <a:latin typeface="Segoe UI" pitchFamily="34" charset="0"/>
                          <a:ea typeface="Segoe UI" pitchFamily="34" charset="-122"/>
                          <a:cs typeface="Segoe UI" pitchFamily="34" charset="-120"/>
                        </a:rPr>
                        <a:t>à partir de 500 000 GNF / mois</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442"/>
                    </a:solidFill>
                  </a:tcPr>
                </a:tc>
              </a:tr>
              <a:tr h="566928">
                <a:tc>
                  <a:txBody>
                    <a:bodyPr/>
                    <a:lstStyle/>
                    <a:p>
                      <a:pPr indent="0" marL="0">
                        <a:buNone/>
                      </a:pPr>
                      <a:r>
                        <a:rPr lang="en-US" sz="1600" dirty="0">
                          <a:solidFill>
                            <a:srgbClr val="FFFFFF"/>
                          </a:solidFill>
                          <a:latin typeface="Segoe UI" pitchFamily="34" charset="0"/>
                          <a:ea typeface="Segoe UI" pitchFamily="34" charset="-122"/>
                          <a:cs typeface="Segoe UI" pitchFamily="34" charset="-120"/>
                        </a:rPr>
                        <a:t>PME &amp; commerce</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442"/>
                    </a:solidFill>
                  </a:tcPr>
                </a:tc>
                <a:tc>
                  <a:txBody>
                    <a:bodyPr/>
                    <a:lstStyle/>
                    <a:p>
                      <a:pPr indent="0" marL="0">
                        <a:buNone/>
                      </a:pPr>
                      <a:r>
                        <a:rPr lang="en-US" sz="1600" b="1" dirty="0">
                          <a:solidFill>
                            <a:srgbClr val="4ADE80"/>
                          </a:solidFill>
                          <a:latin typeface="Segoe UI" pitchFamily="34" charset="0"/>
                          <a:ea typeface="Segoe UI" pitchFamily="34" charset="-122"/>
                          <a:cs typeface="Segoe UI" pitchFamily="34" charset="-120"/>
                        </a:rPr>
                        <a:t>6 mois gratuits</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442"/>
                    </a:solidFill>
                  </a:tcPr>
                </a:tc>
                <a:tc>
                  <a:txBody>
                    <a:bodyPr/>
                    <a:lstStyle/>
                    <a:p>
                      <a:pPr indent="0" marL="0">
                        <a:buNone/>
                      </a:pPr>
                      <a:r>
                        <a:rPr lang="en-US" sz="1600" dirty="0">
                          <a:solidFill>
                            <a:srgbClr val="CBD5E1"/>
                          </a:solidFill>
                          <a:latin typeface="Segoe UI" pitchFamily="34" charset="0"/>
                          <a:ea typeface="Segoe UI" pitchFamily="34" charset="-122"/>
                          <a:cs typeface="Segoe UI" pitchFamily="34" charset="-120"/>
                        </a:rPr>
                        <a:t>à partir de 200 000 GNF / mois</a:t>
                      </a:r>
                      <a:endParaRPr lang="en-US" sz="1600" dirty="0">
                        <a:latin typeface="Segoe UI" charset="0"/>
                        <a:ea typeface="Segoe UI" charset="0"/>
                        <a:cs typeface="Segoe UI" charset="0"/>
                      </a:endParaRPr>
                    </a:p>
                  </a:txBody>
                  <a:tcPr marL="91440" marR="91440" marT="45720" marB="45720">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442"/>
                    </a:solidFill>
                  </a:tcPr>
                </a:tc>
              </a:tr>
            </a:tbl>
          </a:graphicData>
        </a:graphic>
      </p:graphicFrame>
      <p:sp>
        <p:nvSpPr>
          <p:cNvPr id="6" name="Text 2"/>
          <p:cNvSpPr/>
          <p:nvPr/>
        </p:nvSpPr>
        <p:spPr>
          <a:xfrm>
            <a:off x="548640" y="4892040"/>
            <a:ext cx="11064240" cy="457200"/>
          </a:xfrm>
          <a:prstGeom prst="rect">
            <a:avLst/>
          </a:prstGeom>
          <a:noFill/>
          <a:ln/>
        </p:spPr>
        <p:txBody>
          <a:bodyPr wrap="square" rtlCol="0" anchor="ctr"/>
          <a:lstStyle/>
          <a:p>
            <a:pPr indent="0" marL="0">
              <a:buNone/>
            </a:pPr>
            <a:r>
              <a:rPr lang="en-US" sz="1400" dirty="0">
                <a:solidFill>
                  <a:srgbClr val="CBD5E1"/>
                </a:solidFill>
                <a:latin typeface="Segoe UI" pitchFamily="34" charset="0"/>
                <a:ea typeface="Segoe UI" pitchFamily="34" charset="-122"/>
                <a:cs typeface="Segoe UI" pitchFamily="34" charset="-120"/>
              </a:rPr>
              <a:t>Activation unique, dans les 2 mois suivant l'inscription. Aucun paiement n'est demandé pour démarrer.</a:t>
            </a:r>
            <a:endParaRPr lang="en-US" sz="1400" dirty="0"/>
          </a:p>
        </p:txBody>
      </p:sp>
      <p:sp>
        <p:nvSpPr>
          <p:cNvPr id="7" name="Text 3"/>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8" name="Shape 4"/>
          <p:cNvSpPr/>
          <p:nvPr/>
        </p:nvSpPr>
        <p:spPr>
          <a:xfrm>
            <a:off x="0" y="6784848"/>
            <a:ext cx="12191695" cy="73152"/>
          </a:xfrm>
          <a:prstGeom prst="rect">
            <a:avLst/>
          </a:prstGeom>
          <a:solidFill>
            <a:srgbClr val="22D3EE"/>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92F"/>
        </a:solidFill>
      </p:bgPr>
    </p:bg>
    <p:spTree>
      <p:nvGrpSpPr>
        <p:cNvPr id="1" name=""/>
        <p:cNvGrpSpPr/>
        <p:nvPr/>
      </p:nvGrpSpPr>
      <p:grpSpPr>
        <a:xfrm>
          <a:off x="0" y="0"/>
          <a:ext cx="0" cy="0"/>
          <a:chOff x="0" y="0"/>
          <a:chExt cx="0" cy="0"/>
        </a:xfrm>
      </p:grpSpPr>
      <p:sp>
        <p:nvSpPr>
          <p:cNvPr id="3" name="Shape 0"/>
          <p:cNvSpPr/>
          <p:nvPr/>
        </p:nvSpPr>
        <p:spPr>
          <a:xfrm>
            <a:off x="-1828800" y="3200400"/>
            <a:ext cx="5486400" cy="5486400"/>
          </a:xfrm>
          <a:prstGeom prst="ellipse">
            <a:avLst/>
          </a:prstGeom>
          <a:solidFill>
            <a:srgbClr val="3B82F6">
              <a:alpha val="15000"/>
            </a:srgbClr>
          </a:solidFill>
          <a:ln w="12700">
            <a:solidFill>
              <a:srgbClr val="3B82F6">
                <a:alpha val="0"/>
              </a:srgbClr>
            </a:solidFill>
            <a:prstDash val="solid"/>
          </a:ln>
        </p:spPr>
      </p:sp>
      <p:sp>
        <p:nvSpPr>
          <p:cNvPr id="4" name="Text 1"/>
          <p:cNvSpPr/>
          <p:nvPr/>
        </p:nvSpPr>
        <p:spPr>
          <a:xfrm>
            <a:off x="548640" y="1097280"/>
            <a:ext cx="7315200" cy="822960"/>
          </a:xfrm>
          <a:prstGeom prst="rect">
            <a:avLst/>
          </a:prstGeom>
          <a:noFill/>
          <a:ln/>
        </p:spPr>
        <p:txBody>
          <a:bodyPr wrap="square"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Construisons ensemble</a:t>
            </a:r>
            <a:endParaRPr lang="en-US" sz="4000" dirty="0"/>
          </a:p>
        </p:txBody>
      </p:sp>
      <p:sp>
        <p:nvSpPr>
          <p:cNvPr id="5" name="Text 2"/>
          <p:cNvSpPr/>
          <p:nvPr/>
        </p:nvSpPr>
        <p:spPr>
          <a:xfrm>
            <a:off x="548640" y="1965960"/>
            <a:ext cx="7315200" cy="548640"/>
          </a:xfrm>
          <a:prstGeom prst="rect">
            <a:avLst/>
          </a:prstGeom>
          <a:noFill/>
          <a:ln/>
        </p:spPr>
        <p:txBody>
          <a:bodyPr wrap="square" rtlCol="0" anchor="ctr"/>
          <a:lstStyle/>
          <a:p>
            <a:pPr indent="0" marL="0">
              <a:buNone/>
            </a:pPr>
            <a:r>
              <a:rPr lang="en-US" sz="1800" dirty="0">
                <a:solidFill>
                  <a:srgbClr val="CBD5E1"/>
                </a:solidFill>
                <a:latin typeface="Segoe UI" pitchFamily="34" charset="0"/>
                <a:ea typeface="Segoe UI" pitchFamily="34" charset="-122"/>
                <a:cs typeface="Segoe UI" pitchFamily="34" charset="-120"/>
              </a:rPr>
              <a:t>Prochaine étape : fixons une date d’atelier ou de démonstration.</a:t>
            </a:r>
            <a:endParaRPr lang="en-US" sz="1800" dirty="0"/>
          </a:p>
        </p:txBody>
      </p:sp>
      <p:sp>
        <p:nvSpPr>
          <p:cNvPr id="6" name="Text 3"/>
          <p:cNvSpPr/>
          <p:nvPr/>
        </p:nvSpPr>
        <p:spPr>
          <a:xfrm>
            <a:off x="548640" y="3017520"/>
            <a:ext cx="7315200" cy="1645920"/>
          </a:xfrm>
          <a:prstGeom prst="rect">
            <a:avLst/>
          </a:prstGeom>
          <a:noFill/>
          <a:ln/>
        </p:spPr>
        <p:txBody>
          <a:bodyPr wrap="square" rtlCol="0" anchor="t"/>
          <a:lstStyle/>
          <a:p>
            <a:pPr indent="0" marL="0">
              <a:spcAft>
                <a:spcPts val="1200"/>
              </a:spcAft>
              <a:buNone/>
            </a:pPr>
            <a:r>
              <a:rPr lang="en-US" sz="2000" b="1" dirty="0">
                <a:solidFill>
                  <a:srgbClr val="FFFFFF"/>
                </a:solidFill>
                <a:latin typeface="Segoe UI" pitchFamily="34" charset="0"/>
                <a:ea typeface="Segoe UI" pitchFamily="34" charset="-122"/>
                <a:cs typeface="Segoe UI" pitchFamily="34" charset="-120"/>
              </a:rPr>
              <a:t>WhatsApp  +224 628 36 04 35  ·  +224 627 71 77 85</a:t>
            </a:r>
            <a:endParaRPr lang="en-US" sz="2000" dirty="0"/>
          </a:p>
          <a:p>
            <a:pPr indent="0" marL="0">
              <a:spcAft>
                <a:spcPts val="1200"/>
              </a:spcAft>
              <a:buNone/>
            </a:pPr>
            <a:r>
              <a:rPr lang="en-US" sz="2000" b="1" dirty="0">
                <a:solidFill>
                  <a:srgbClr val="FFFFFF"/>
                </a:solidFill>
                <a:latin typeface="Segoe UI" pitchFamily="34" charset="0"/>
                <a:ea typeface="Segoe UI" pitchFamily="34" charset="-122"/>
                <a:cs typeface="Segoe UI" pitchFamily="34" charset="-120"/>
              </a:rPr>
              <a:t>contact@konadatagn.com</a:t>
            </a:r>
            <a:endParaRPr lang="en-US" sz="2000" dirty="0"/>
          </a:p>
          <a:p>
            <a:pPr indent="0" marL="0">
              <a:spcAft>
                <a:spcPts val="1200"/>
              </a:spcAft>
              <a:buNone/>
            </a:pPr>
            <a:r>
              <a:rPr lang="en-US" sz="2000" b="1" dirty="0">
                <a:solidFill>
                  <a:srgbClr val="FFFFFF"/>
                </a:solidFill>
                <a:latin typeface="Segoe UI" pitchFamily="34" charset="0"/>
                <a:ea typeface="Segoe UI" pitchFamily="34" charset="-122"/>
                <a:cs typeface="Segoe UI" pitchFamily="34" charset="-120"/>
              </a:rPr>
              <a:t>www.konadatagn.com</a:t>
            </a:r>
            <a:endParaRPr lang="en-US" sz="2000" dirty="0"/>
          </a:p>
        </p:txBody>
      </p:sp>
      <p:sp>
        <p:nvSpPr>
          <p:cNvPr id="7" name="Text 4"/>
          <p:cNvSpPr/>
          <p:nvPr/>
        </p:nvSpPr>
        <p:spPr>
          <a:xfrm>
            <a:off x="548640" y="5029200"/>
            <a:ext cx="7315200" cy="457200"/>
          </a:xfrm>
          <a:prstGeom prst="rect">
            <a:avLst/>
          </a:prstGeom>
          <a:noFill/>
          <a:ln/>
        </p:spPr>
        <p:txBody>
          <a:bodyPr wrap="square" rtlCol="0" anchor="ctr"/>
          <a:lstStyle/>
          <a:p>
            <a:pPr indent="0" marL="0">
              <a:buNone/>
            </a:pPr>
            <a:r>
              <a:rPr lang="en-US" sz="1600" i="1" dirty="0">
                <a:solidFill>
                  <a:srgbClr val="22D3EE"/>
                </a:solidFill>
                <a:latin typeface="Segoe UI" pitchFamily="34" charset="0"/>
                <a:ea typeface="Segoe UI" pitchFamily="34" charset="-122"/>
                <a:cs typeface="Segoe UI" pitchFamily="34" charset="-120"/>
              </a:rPr>
              <a:t>Simple, connecté, local.</a:t>
            </a:r>
            <a:endParaRPr lang="en-US" sz="1600" dirty="0"/>
          </a:p>
        </p:txBody>
      </p:sp>
      <p:sp>
        <p:nvSpPr>
          <p:cNvPr id="8" name="Shape 5"/>
          <p:cNvSpPr/>
          <p:nvPr/>
        </p:nvSpPr>
        <p:spPr>
          <a:xfrm>
            <a:off x="8503920" y="1371600"/>
            <a:ext cx="3108960" cy="3566160"/>
          </a:xfrm>
          <a:prstGeom prst="roundRect">
            <a:avLst>
              <a:gd name="adj" fmla="val 4412"/>
            </a:avLst>
          </a:prstGeom>
          <a:solidFill>
            <a:srgbClr val="FFFFFF"/>
          </a:solidFill>
          <a:ln w="12700">
            <a:solidFill>
              <a:srgbClr val="FFFFFF"/>
            </a:solidFill>
            <a:prstDash val="solid"/>
          </a:ln>
        </p:spPr>
      </p:sp>
      <p:pic>
        <p:nvPicPr>
          <p:cNvPr id="9" name="Image 0" descr="preencoded.png">    </p:cNvPr>
          <p:cNvPicPr>
            <a:picLocks noChangeAspect="1"/>
          </p:cNvPicPr>
          <p:nvPr/>
        </p:nvPicPr>
        <p:blipFill>
          <a:blip r:embed="rId1"/>
          <a:stretch>
            <a:fillRect/>
          </a:stretch>
        </p:blipFill>
        <p:spPr>
          <a:xfrm>
            <a:off x="8686800" y="1554480"/>
            <a:ext cx="2743200" cy="2743200"/>
          </a:xfrm>
          <a:prstGeom prst="rect">
            <a:avLst/>
          </a:prstGeom>
        </p:spPr>
      </p:pic>
      <p:sp>
        <p:nvSpPr>
          <p:cNvPr id="10" name="Text 6"/>
          <p:cNvSpPr/>
          <p:nvPr/>
        </p:nvSpPr>
        <p:spPr>
          <a:xfrm>
            <a:off x="8503920" y="4343400"/>
            <a:ext cx="3108960" cy="411480"/>
          </a:xfrm>
          <a:prstGeom prst="rect">
            <a:avLst/>
          </a:prstGeom>
          <a:noFill/>
          <a:ln/>
        </p:spPr>
        <p:txBody>
          <a:bodyPr wrap="square" rtlCol="0" anchor="ctr"/>
          <a:lstStyle/>
          <a:p>
            <a:pPr algn="ctr" indent="0" marL="0">
              <a:buNone/>
            </a:pPr>
            <a:r>
              <a:rPr lang="en-US" sz="1400" b="1" dirty="0">
                <a:solidFill>
                  <a:srgbClr val="0A192F"/>
                </a:solidFill>
                <a:latin typeface="Segoe UI" pitchFamily="34" charset="0"/>
                <a:ea typeface="Segoe UI" pitchFamily="34" charset="-122"/>
                <a:cs typeface="Segoe UI" pitchFamily="34" charset="-120"/>
              </a:rPr>
              <a:t>konadatagn.com</a:t>
            </a:r>
            <a:endParaRPr lang="en-US" sz="1400" dirty="0"/>
          </a:p>
        </p:txBody>
      </p:sp>
      <p:sp>
        <p:nvSpPr>
          <p:cNvPr id="11" name="Text 7"/>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www.konadatagn.com   ·   WhatsApp +224 628 36 04 35</a:t>
            </a:r>
            <a:endParaRPr lang="en-US" sz="1000" dirty="0"/>
          </a:p>
        </p:txBody>
      </p:sp>
      <p:sp>
        <p:nvSpPr>
          <p:cNvPr id="12" name="Shape 8"/>
          <p:cNvSpPr/>
          <p:nvPr/>
        </p:nvSpPr>
        <p:spPr>
          <a:xfrm>
            <a:off x="0" y="6784848"/>
            <a:ext cx="12191695" cy="73152"/>
          </a:xfrm>
          <a:prstGeom prst="rect">
            <a:avLst/>
          </a:prstGeom>
          <a:solidFill>
            <a:srgbClr val="22D3EE"/>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KonaData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KonaData — Présentation partenaires</dc:title>
  <dc:subject>PptxGenJS Presentation</dc:subject>
  <dc:creator>KonaData</dc:creator>
  <cp:lastModifiedBy>KonaData</cp:lastModifiedBy>
  <cp:revision>1</cp:revision>
  <dcterms:created xsi:type="dcterms:W3CDTF">2026-09-28T20:32:16Z</dcterms:created>
  <dcterms:modified xsi:type="dcterms:W3CDTF">2026-09-28T20:32:16Z</dcterms:modified>
</cp:coreProperties>
</file>