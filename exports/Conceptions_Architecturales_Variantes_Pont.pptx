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CONCEPTIONS ARCHITECTURALES — VARIANTES DE PONT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Portée étudiée : 4 × 15,70 m = 62,80 m</a:t>
            </a:r>
          </a:p>
          <a:p>
            <a:pPr>
              <a:defRPr sz="1400" b="0">
                <a:solidFill>
                  <a:srgbClr val="5A5A5A"/>
                </a:solidFill>
              </a:defRPr>
            </a:pPr>
          </a:p>
          <a:p>
            <a:pPr>
              <a:defRPr sz="2000" b="1">
                <a:solidFill>
                  <a:srgbClr val="0A2540"/>
                </a:solidFill>
              </a:defRPr>
            </a:pPr>
            <a:r>
              <a:t>Variante A — Pont à tablier mixte (béton armé + poutres acier)</a:t>
            </a:r>
          </a:p>
          <a:p>
            <a:pPr>
              <a:defRPr sz="2000" b="1">
                <a:solidFill>
                  <a:srgbClr val="2F6B4F"/>
                </a:solidFill>
              </a:defRPr>
            </a:pPr>
            <a:r>
              <a:t>Variante B — Pont en béton précontraint (poutres préfabriquées)</a:t>
            </a:r>
          </a:p>
          <a:p>
            <a:pPr>
              <a:defRPr sz="1400" b="0">
                <a:solidFill>
                  <a:srgbClr val="5A5A5A"/>
                </a:solidFill>
              </a:defRPr>
            </a:pPr>
          </a:p>
          <a:p>
            <a:pPr>
              <a:defRPr sz="1600" b="0">
                <a:solidFill>
                  <a:srgbClr val="5A5A5A"/>
                </a:solidFill>
              </a:defRPr>
            </a:pPr>
            <a:r>
              <a:t>Vues : profil longitudinal • vue en plan • coupe transversale • détail technique</a:t>
            </a:r>
          </a:p>
          <a:p>
            <a:pPr>
              <a:defRPr sz="1400" b="0">
                <a:solidFill>
                  <a:srgbClr val="5A5A5A"/>
                </a:solidFill>
              </a:defRPr>
            </a:pPr>
          </a:p>
          <a:p>
            <a:pPr>
              <a:defRPr sz="1600" b="0">
                <a:solidFill>
                  <a:srgbClr val="5A5A5A"/>
                </a:solidFill>
              </a:defRPr>
            </a:pPr>
            <a:r>
              <a:t>Réalisé par : Mamady KABA &amp; Thierno Ibrahima Hassanatou Diallo</a:t>
            </a:r>
          </a:p>
          <a:p>
            <a:pPr>
              <a:defRPr sz="1600" b="0">
                <a:solidFill>
                  <a:srgbClr val="5A5A5A"/>
                </a:solidFill>
              </a:defRPr>
            </a:pPr>
            <a:r>
              <a:t>Encadré par : Monsieur Fodé Bangaly Keita</a:t>
            </a:r>
          </a:p>
          <a:p>
            <a:pPr>
              <a:defRPr sz="1600" b="0">
                <a:solidFill>
                  <a:srgbClr val="5A5A5A"/>
                </a:solidFill>
              </a:defRPr>
            </a:pPr>
            <a:r>
              <a:t>Mémoire d'ingénieurs — Ponts et chaussées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VARIANTE A — Profil longitudinal (tablier mixte)</a:t>
            </a:r>
          </a:p>
        </p:txBody>
      </p:sp>
      <p:pic>
        <p:nvPicPr>
          <p:cNvPr id="4" name="Picture 3" descr="01_mixte_profil_longitud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30080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VARIANTE A — Vue en plan</a:t>
            </a:r>
          </a:p>
        </p:txBody>
      </p:sp>
      <p:pic>
        <p:nvPicPr>
          <p:cNvPr id="4" name="Picture 3" descr="02_mixte_vue_e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25665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VARIANTE A — Coupe transversale</a:t>
            </a:r>
          </a:p>
        </p:txBody>
      </p:sp>
      <p:pic>
        <p:nvPicPr>
          <p:cNvPr id="4" name="Picture 3" descr="03_mixte_coupe_transvers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52346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VARIANTE A — Détail de connexion mixte</a:t>
            </a:r>
          </a:p>
        </p:txBody>
      </p:sp>
      <p:pic>
        <p:nvPicPr>
          <p:cNvPr id="4" name="Picture 3" descr="04_mixte_detail_connex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10562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VARIANTE B — Profil longitudinal (béton précontraint)</a:t>
            </a:r>
          </a:p>
        </p:txBody>
      </p:sp>
      <p:pic>
        <p:nvPicPr>
          <p:cNvPr id="4" name="Picture 3" descr="05_precontraint_profil_longitud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29948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VARIANTE B — Vue en plan</a:t>
            </a:r>
          </a:p>
        </p:txBody>
      </p:sp>
      <p:pic>
        <p:nvPicPr>
          <p:cNvPr id="4" name="Picture 3" descr="06_precontraint_vue_e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25698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VARIANTE B — Coupe transversale</a:t>
            </a:r>
          </a:p>
        </p:txBody>
      </p:sp>
      <p:pic>
        <p:nvPicPr>
          <p:cNvPr id="4" name="Picture 3" descr="07_precontraint_coupe_transvers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54679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VARIANTE B — Détail de poutre précontrainte</a:t>
            </a:r>
          </a:p>
        </p:txBody>
      </p:sp>
      <p:pic>
        <p:nvPicPr>
          <p:cNvPr id="4" name="Picture 3" descr="08_precontraint_detail_pout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95022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COMPARAISON DES DEUX VARIANTES ARCHITECTURALES</a:t>
            </a:r>
          </a:p>
        </p:txBody>
      </p:sp>
      <p:pic>
        <p:nvPicPr>
          <p:cNvPr id="4" name="Picture 3" descr="09_comparatif_vari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45103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SYNTHÈSE CONCEPTUELLE POUR LE MÉMOIRE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 Les deux variantes respectent la même géométrie : 4 travées de 15,70 m (L = 62,80 m), largeur utile 8,00 m.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 Variante A (mixte) : dalle BA collaborante sur poutres acier — tablier léger, montage rapide, hauteur constructive réduite.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 Variante B (précontraint) : poutres I préfabriquées + hourdis — qualité usine, durabilité, câbles en parabole.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 Appuis communs : culées H = 5 m, 3 piles, chevêtres, appareils d'appui élastomères, semelles.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 Hydraulique commune : NPBE = 1,00 m • NPHE = 4,00 m • Affouillement prévu = 5,00 m.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•  La variante BA (déjà retenue dans le mémoire) reste la référence ; A et B servent à la comparaison multicritère.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VARIANTE A — Perspective architecturale (tablier mixte)</a:t>
            </a:r>
          </a:p>
        </p:txBody>
      </p:sp>
      <p:pic>
        <p:nvPicPr>
          <p:cNvPr id="4" name="Picture 3" descr="10_mixte_perspective_architectur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064240" cy="7376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VARIANTE B — Perspective architecturale (béton précontraint)</a:t>
            </a:r>
          </a:p>
        </p:txBody>
      </p:sp>
      <p:pic>
        <p:nvPicPr>
          <p:cNvPr id="4" name="Picture 3" descr="11_precontraint_perspective_architectur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064240" cy="7376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