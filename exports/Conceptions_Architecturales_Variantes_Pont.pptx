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1/11 VARIANTE A — Profil longitudinal (tablier mixte)</a:t>
            </a:r>
          </a:p>
        </p:txBody>
      </p:sp>
      <p:pic>
        <p:nvPicPr>
          <p:cNvPr id="4" name="Picture 3" descr="01_mixte_profil_longitud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22960"/>
            <a:ext cx="11521440" cy="30080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2/11 VARIANTE A — Vue en plan</a:t>
            </a:r>
          </a:p>
        </p:txBody>
      </p:sp>
      <p:pic>
        <p:nvPicPr>
          <p:cNvPr id="4" name="Picture 3" descr="02_mixte_vue_en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22960"/>
            <a:ext cx="11521440" cy="256654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3/11 VARIANTE A — Coupe transversale</a:t>
            </a:r>
          </a:p>
        </p:txBody>
      </p:sp>
      <p:pic>
        <p:nvPicPr>
          <p:cNvPr id="4" name="Picture 3" descr="03_mixte_coupe_transvers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22960"/>
            <a:ext cx="11521440" cy="52346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4/11 VARIANTE A — Détail connexion mixte</a:t>
            </a:r>
          </a:p>
        </p:txBody>
      </p:sp>
      <p:pic>
        <p:nvPicPr>
          <p:cNvPr id="4" name="Picture 3" descr="04_mixte_detail_connex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22960"/>
            <a:ext cx="11521440" cy="105624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5/11 VARIANTE B — Profil longitudinal (caisson précontraint)</a:t>
            </a:r>
          </a:p>
        </p:txBody>
      </p:sp>
      <p:pic>
        <p:nvPicPr>
          <p:cNvPr id="4" name="Picture 3" descr="05_precontraint_profil_longitud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22960"/>
            <a:ext cx="11521440" cy="31037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6/11 VARIANTE B — Vue en plan (caisson)</a:t>
            </a:r>
          </a:p>
        </p:txBody>
      </p:sp>
      <p:pic>
        <p:nvPicPr>
          <p:cNvPr id="4" name="Picture 3" descr="06_precontraint_vue_en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22960"/>
            <a:ext cx="11521440" cy="26159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7/11 VARIANTE B — Coupe transversale caisson trapézoïdal</a:t>
            </a:r>
          </a:p>
        </p:txBody>
      </p:sp>
      <p:pic>
        <p:nvPicPr>
          <p:cNvPr id="4" name="Picture 3" descr="07_precontraint_coupe_transvers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22960"/>
            <a:ext cx="11521440" cy="59786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8/11 VARIANTE B — Détail caisson / pile ovale</a:t>
            </a:r>
          </a:p>
        </p:txBody>
      </p:sp>
      <p:pic>
        <p:nvPicPr>
          <p:cNvPr id="4" name="Picture 3" descr="08_precontraint_detail_pout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22960"/>
            <a:ext cx="11521440" cy="73637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9/11 COMPARAISON DES DEUX VARIANTES</a:t>
            </a:r>
          </a:p>
        </p:txBody>
      </p:sp>
      <p:pic>
        <p:nvPicPr>
          <p:cNvPr id="4" name="Picture 3" descr="09_comparatif_var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22960"/>
            <a:ext cx="11521440" cy="44906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10/11 VARIANTE A — Perspective architecturale</a:t>
            </a:r>
          </a:p>
        </p:txBody>
      </p:sp>
      <p:pic>
        <p:nvPicPr>
          <p:cNvPr id="4" name="Picture 3" descr="10_mixte_perspective_architectur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22960"/>
            <a:ext cx="11521440" cy="7680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F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11/11 VARIANTE B — Perspective caisson précontraint</a:t>
            </a:r>
          </a:p>
        </p:txBody>
      </p:sp>
      <p:pic>
        <p:nvPicPr>
          <p:cNvPr id="4" name="Picture 3" descr="11_precontraint_perspective_architectur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22960"/>
            <a:ext cx="11521440" cy="7680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