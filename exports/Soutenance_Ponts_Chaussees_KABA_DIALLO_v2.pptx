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PROJET DE CONSTRUCTION D'UN PONT EN BÉTON ARMÉ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9728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0A2540"/>
                </a:solidFill>
              </a:defRPr>
            </a:pPr>
            <a:r>
              <a:t>Présentation de soutenance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Réalisé par : Mamady KABA et Thierno Ibrahima Hassanatou DIALLO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Encadré par : Monsieur Fodé Bangaly KEITA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Filière : Génie Civil - Ponts et Chaussées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Année universitaire : 2017-2022</a:t>
            </a:r>
          </a:p>
          <a:p>
            <a:pPr>
              <a:defRPr sz="2000">
                <a:solidFill>
                  <a:srgbClr val="212529"/>
                </a:solidFill>
              </a:defRPr>
            </a:pPr>
            <a:r>
              <a:t>Membres du jury : ....................................................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GUIDE DE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268"/>
                </a:solidFill>
              </a:defRPr>
            </a:pPr>
            <a:r>
              <a:t>Deux scénarios de passage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7ACC"/>
                </a:solidFill>
              </a:defRPr>
            </a:pPr>
            <a:r>
              <a:t>Version courte (10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1. Contexte + objectifs (1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2. Données de base du site (1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3. Variante retenue (1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4. Conception et dimensionnement (4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5. Planning + coût (2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6. Conclusion (1 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A699"/>
                </a:solidFill>
              </a:defRPr>
            </a:pPr>
            <a:r>
              <a:t>Version longue (20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1. Contexte détaillé (2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2. Hypothèses et normes (3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3. Choix de variante (2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4. Calculs et vérifications (8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5. Planning + estimation (3 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6. Recommandations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CONTEXTE ET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Le projet vise le franchissement d'un cours d'eau en zone urbaine.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Enjeux majeurs : circulation, sécurité, durabilité et maîtrise du coût.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Objectif global : proposer un pont techniquement fiable et économiquement réalisable.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Approche retenue : étude comparative des variantes puis dimensionnement détaillé.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DONNÉES DE BASE DU 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577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7ACC"/>
                </a:solidFill>
              </a:defRPr>
            </a:pPr>
            <a:r>
              <a:t>Données hydrauliques et géométriques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NPBE : 1,00 m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NPHE : 4,00 m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Affouillement prévu : 5,00 m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Tirant d'air : 2,00 m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Longueur du pont : 15,7 m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Largeur roulable : 6,0 m (2 voies)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Trottoirs : 2 x 1,0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A699"/>
                </a:solidFill>
              </a:defRPr>
            </a:pPr>
            <a:r>
              <a:t>Contraintes projet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Maintien de la circulation locale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Adaptation aux conditions du lit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Gestion des phases de chantier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Contrôle qualité béton/acier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Exigence de sécurité en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CHOIX DE LA VARIANTE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12529"/>
                </a:solidFill>
              </a:defRPr>
            </a:pPr>
            <a:r>
              <a:t>Variantes étudiées :</a:t>
            </a:r>
          </a:p>
          <a:p>
            <a:pPr lvl="1">
              <a:defRPr sz="2000">
                <a:solidFill>
                  <a:srgbClr val="212529"/>
                </a:solidFill>
              </a:defRPr>
            </a:pPr>
            <a:r>
              <a:t>- Pont à poutres en béton précontraint</a:t>
            </a:r>
          </a:p>
          <a:p>
            <a:pPr lvl="1">
              <a:defRPr sz="2000">
                <a:solidFill>
                  <a:srgbClr val="212529"/>
                </a:solidFill>
              </a:defRPr>
            </a:pPr>
            <a:r>
              <a:t>- Pont à tablier mixte</a:t>
            </a:r>
          </a:p>
          <a:p>
            <a:pPr lvl="1">
              <a:defRPr sz="2000">
                <a:solidFill>
                  <a:srgbClr val="212529"/>
                </a:solidFill>
              </a:defRPr>
            </a:pPr>
            <a:r>
              <a:t>- Pont à poutres en béton armé</a:t>
            </a:r>
          </a:p>
          <a:p>
            <a:pPr>
              <a:defRPr sz="2300">
                <a:solidFill>
                  <a:srgbClr val="212529"/>
                </a:solidFill>
              </a:defRPr>
            </a:pPr>
            <a:r>
              <a:t>Variante retenue : pont à poutres en béton armé</a:t>
            </a:r>
          </a:p>
          <a:p>
            <a:pPr lvl="1">
              <a:defRPr sz="2000">
                <a:solidFill>
                  <a:srgbClr val="212529"/>
                </a:solidFill>
              </a:defRPr>
            </a:pPr>
            <a:r>
              <a:t>Critères : disponibilité des matériaux, simplicité constructive, coût, maintenance.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CONCEPTION GÉNÉRALE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7ACC"/>
                </a:solidFill>
              </a:defRPr>
            </a:pPr>
            <a:r>
              <a:t>Composition de l'ouvrage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Tablier en dalle hourdis reposant sur poutres BA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Appuis : piles, culées, chevêtres, appareils d'appui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Fondations : semelles et éléments associés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Équipements : joints, garde-corps, revêtement, drainage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Vérifications : stabilité globale, résistance,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DIMENSIONNEMENT - HYPOTHÈSES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7ACC"/>
                </a:solidFill>
              </a:defRPr>
            </a:pPr>
            <a:r>
              <a:t>Actions considérées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Charges permanentes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Charges d'exploitation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Surcharges (A, B, militaires)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Freinage et efforts horizontaux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Poussées (eau, terres)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A699"/>
                </a:solidFill>
              </a:defRPr>
            </a:pPr>
            <a:r>
              <a:t>Vérifications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Combinaisons ELU / ELS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Dalle, poutres, appuis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Ferraillage des sections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Contraintes admissibles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Conformité aux hypothèses du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RÉSULTATS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La solution retenue répond aux exigences de stabilité et de résistance.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Le prédimensionnement et le ferraillage des éléments sont cohérents.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Le profil longitudinal est compatible avec les contraintes hydrauliques.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Les dispositions constructives proposées facilitent l'exécution sur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PLANNING D'EXÉCUTION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ACC"/>
                </a:solidFill>
              </a:defRPr>
            </a:pPr>
            <a:r>
              <a:t>Durée totale estimée : 311 jours (du 01/07/2026 au 08/09/2027)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600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Durée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Début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Préparation de chantier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32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01/07/26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13/08/26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Démolition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14/08/26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15/10/26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Terrassement/Fondation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16/10/26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17/12/26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Infrastructures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29/04/27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Superstructure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242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29/07/26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01/07/27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Équipements/Finitions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02/07/27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05/08/27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Mise en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24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06/08/27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08/09/27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ÉTUDE DE PRIX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A699"/>
                </a:solidFill>
              </a:defRPr>
            </a:pPr>
            <a:r>
              <a:t>Synthèse financière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Coût total estimé : 14 334 530 076 GNF TTC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Postes dominants : terrassement, fondations, béton armé, poutres, équipements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Éléments intégrés : études, contrôle, chantier, imprévus, assurances, TVA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Conclusion économique : projet réalisable avec maîtrise des coûts par phasage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RISQUES ET MESURES DE MAÎTRISE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12529"/>
                </a:solidFill>
              </a:defRPr>
            </a:pPr>
            <a:r>
              <a:t>Risque hydraulique -&gt; suivi saisonnier et phasage adapté.</a:t>
            </a:r>
          </a:p>
          <a:p>
            <a:pPr>
              <a:defRPr sz="2300">
                <a:solidFill>
                  <a:srgbClr val="212529"/>
                </a:solidFill>
              </a:defRPr>
            </a:pPr>
            <a:r>
              <a:t>Risque géotechnique -&gt; contrôles in situ et adaptation fondations.</a:t>
            </a:r>
          </a:p>
          <a:p>
            <a:pPr>
              <a:defRPr sz="2300">
                <a:solidFill>
                  <a:srgbClr val="212529"/>
                </a:solidFill>
              </a:defRPr>
            </a:pPr>
            <a:r>
              <a:t>Risque qualité béton/acier -&gt; plan d'assurance qualité chantier.</a:t>
            </a:r>
          </a:p>
          <a:p>
            <a:pPr>
              <a:defRPr sz="2300">
                <a:solidFill>
                  <a:srgbClr val="212529"/>
                </a:solidFill>
              </a:defRPr>
            </a:pPr>
            <a:r>
              <a:t>Risque délai -&gt; jalons de pilotage + coordination des approvisionnements.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Le pont à poutres en béton armé est la solution optimale pour le site étudié.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Les vérifications de dimensionnement confirment la fiabilité de l'ouvrage.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Le planning et l'estimation financière soutiennent la faisabilité globale.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Recommandation : renforcer le contrôle d'exécution et la maintenance post-réception.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SLIDE À PERSONNALISER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7ACC"/>
                </a:solidFill>
              </a:defRPr>
            </a:pPr>
            <a:r>
              <a:t>Membres du jury (à compléter)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Président : ..................................................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Examinateur 1 : ..........................................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Examinateur 2 : ..........................................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Invité(s) : ....................................................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ACC"/>
                </a:solidFill>
              </a:defRPr>
            </a:pPr>
            <a:r>
              <a:t>Questions / Réponses</a:t>
            </a:r>
          </a:p>
          <a:p>
            <a:pPr algn="ctr">
              <a:defRPr sz="2400"/>
            </a:pPr>
            <a:r>
              <a:t>Mamady KABA - Thierno Ibrahima Hassanatou DIALLO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268"/>
                </a:solidFill>
              </a:defRPr>
            </a:pPr>
            <a:r>
              <a:t>Soutenance - Génie Civil Ponts et Chaussées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